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147483266" r:id="rId2"/>
    <p:sldId id="2147483276" r:id="rId3"/>
    <p:sldId id="2147483278" r:id="rId4"/>
    <p:sldId id="2147483283" r:id="rId5"/>
    <p:sldId id="2147483279" r:id="rId6"/>
    <p:sldId id="2147483281" r:id="rId7"/>
    <p:sldId id="2147483290" r:id="rId8"/>
    <p:sldId id="2147483291" r:id="rId9"/>
    <p:sldId id="2147483292" r:id="rId10"/>
    <p:sldId id="2147483293" r:id="rId11"/>
    <p:sldId id="2147483294" r:id="rId12"/>
    <p:sldId id="2147483289" r:id="rId13"/>
    <p:sldId id="2147483277" r:id="rId14"/>
    <p:sldId id="2147483274" r:id="rId15"/>
    <p:sldId id="2147483280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F5FE"/>
    <a:srgbClr val="D9D9D9"/>
    <a:srgbClr val="B6D8FD"/>
    <a:srgbClr val="008FC7"/>
    <a:srgbClr val="DBEBFE"/>
    <a:srgbClr val="B7D7FE"/>
    <a:srgbClr val="ED7D31"/>
    <a:srgbClr val="87CA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58C8CE-7FD1-4721-B89F-AEE10A5241BF}" v="113" dt="2025-11-07T08:09:07.392"/>
    <p1510:client id="{EC15A89B-C390-4CCA-0992-F3E3F300E883}" v="58" dt="2025-11-07T02:05:04.640"/>
  </p1510:revLst>
</p1510:revInfo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佈景主題樣式 1 - 輔色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994741-50A1-4DDB-BE58-3B7E636301F0}" type="datetimeFigureOut">
              <a:rPr lang="zh-TW" altLang="en-US" smtClean="0"/>
              <a:t>2025/11/7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C622FB-9102-4C6F-A419-BDCBC87BF1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3494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C622FB-9102-4C6F-A419-BDCBC87BF19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2231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EA8C10-7E4D-47BE-BDB9-4A126C27A52A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85564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EA8C10-7E4D-47BE-BDB9-4A126C27A52A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95266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EB2BE-551D-3063-95FB-27BDF527E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9264539-7CC6-B0A8-C078-827AAC2EE3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7B4322B-E123-B038-95D9-C2D8951E5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09866CF-1F2F-D866-A929-E03225574E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EA8C10-7E4D-47BE-BDB9-4A126C27A52A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21946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EB2BE-551D-3063-95FB-27BDF527E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9264539-7CC6-B0A8-C078-827AAC2EE3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7B4322B-E123-B038-95D9-C2D8951E5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09866CF-1F2F-D866-A929-E03225574E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EA8C10-7E4D-47BE-BDB9-4A126C27A52A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84267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EB2BE-551D-3063-95FB-27BDF527E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9264539-7CC6-B0A8-C078-827AAC2EE3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7B4322B-E123-B038-95D9-C2D8951E5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09866CF-1F2F-D866-A929-E03225574E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EA8C10-7E4D-47BE-BDB9-4A126C27A52A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2951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EB2BE-551D-3063-95FB-27BDF527E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9264539-7CC6-B0A8-C078-827AAC2EE3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7B4322B-E123-B038-95D9-C2D8951E5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09866CF-1F2F-D866-A929-E03225574E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EA8C10-7E4D-47BE-BDB9-4A126C27A52A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05395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EB2BE-551D-3063-95FB-27BDF527E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9264539-7CC6-B0A8-C078-827AAC2EE3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7B4322B-E123-B038-95D9-C2D8951E5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09866CF-1F2F-D866-A929-E03225574E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EA8C10-7E4D-47BE-BDB9-4A126C27A52A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04230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EB2BE-551D-3063-95FB-27BDF527E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9264539-7CC6-B0A8-C078-827AAC2EE3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7B4322B-E123-B038-95D9-C2D8951E5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09866CF-1F2F-D866-A929-E03225574E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EA8C10-7E4D-47BE-BDB9-4A126C27A52A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84280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EA8C10-7E4D-47BE-BDB9-4A126C27A52A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7867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錄頁">
    <p:bg bwMode="blackGray"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3">
            <a:extLst>
              <a:ext uri="{FF2B5EF4-FFF2-40B4-BE49-F238E27FC236}">
                <a16:creationId xmlns:a16="http://schemas.microsoft.com/office/drawing/2014/main" id="{657F3605-2EB4-044B-A755-F377C5749D8E}"/>
              </a:ext>
            </a:extLst>
          </p:cNvPr>
          <p:cNvSpPr txBox="1">
            <a:spLocks/>
          </p:cNvSpPr>
          <p:nvPr userDrawn="1"/>
        </p:nvSpPr>
        <p:spPr>
          <a:xfrm>
            <a:off x="11706044" y="6519625"/>
            <a:ext cx="403891" cy="297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4094CE0-D024-4FC6-B25F-837FC5BFCD48}" type="slidenum">
              <a:rPr lang="zh-TW" altLang="en-US" sz="14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zh-TW" altLang="en-US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投影片編號版面配置區 3">
            <a:extLst>
              <a:ext uri="{FF2B5EF4-FFF2-40B4-BE49-F238E27FC236}">
                <a16:creationId xmlns:a16="http://schemas.microsoft.com/office/drawing/2014/main" id="{23E32C13-15C5-88F2-E564-E878156F89C8}"/>
              </a:ext>
            </a:extLst>
          </p:cNvPr>
          <p:cNvSpPr txBox="1">
            <a:spLocks/>
          </p:cNvSpPr>
          <p:nvPr userDrawn="1"/>
        </p:nvSpPr>
        <p:spPr>
          <a:xfrm>
            <a:off x="11706044" y="6515712"/>
            <a:ext cx="403891" cy="297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4094CE0-D024-4FC6-B25F-837FC5BFCD48}" type="slidenum">
              <a:rPr lang="zh-TW" altLang="en-US" sz="1400" smtClean="0">
                <a:solidFill>
                  <a:srgbClr val="0150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zh-TW" altLang="en-US" sz="1400">
              <a:solidFill>
                <a:srgbClr val="01507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2214E958-5F64-5B7B-7E57-4802DB5FE16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038600" y="1390417"/>
            <a:ext cx="4617720" cy="49847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rgbClr val="01507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主題</a:t>
            </a:r>
            <a:r>
              <a:rPr lang="en-US" altLang="zh-TW"/>
              <a:t>1</a:t>
            </a:r>
            <a:endParaRPr lang="zh-TW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239913-E330-0DB9-B668-81BCC678665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38600" y="2191316"/>
            <a:ext cx="4617720" cy="49847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rgbClr val="01507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主題</a:t>
            </a:r>
            <a:r>
              <a:rPr lang="en-US" altLang="zh-TW"/>
              <a:t>2</a:t>
            </a:r>
            <a:endParaRPr lang="zh-TW" alt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202BCD2-4127-E3CB-D04B-C559A8D6312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038600" y="3002771"/>
            <a:ext cx="4617720" cy="49847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rgbClr val="01507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主題</a:t>
            </a:r>
            <a:r>
              <a:rPr lang="en-US" altLang="zh-TW"/>
              <a:t>3</a:t>
            </a:r>
            <a:endParaRPr lang="zh-TW" alt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CEEF6DF-DB0F-11BA-D5E1-73691D040C2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38600" y="3795900"/>
            <a:ext cx="4617720" cy="49847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rgbClr val="01507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主題</a:t>
            </a:r>
            <a:r>
              <a:rPr lang="en-US" altLang="zh-TW"/>
              <a:t>4</a:t>
            </a:r>
            <a:endParaRPr lang="zh-TW" altLang="en-US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1F08AA32-4D70-A1F8-D822-40CA1B754A4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038600" y="4546032"/>
            <a:ext cx="4617720" cy="49847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rgbClr val="01507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主題</a:t>
            </a:r>
            <a:r>
              <a:rPr lang="en-US" altLang="zh-TW"/>
              <a:t>5</a:t>
            </a:r>
            <a:endParaRPr lang="zh-TW" altLang="en-US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AA08D747-DF5B-12C7-22C7-1663C4BE7B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723812" y="1390417"/>
            <a:ext cx="1404926" cy="49847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rgbClr val="01507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P.1</a:t>
            </a:r>
            <a:endParaRPr lang="zh-TW" alt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25CC16F7-38E1-776A-56FC-D63B8B3C0D3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23812" y="2191316"/>
            <a:ext cx="1404926" cy="49847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rgbClr val="01507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P.2</a:t>
            </a:r>
            <a:endParaRPr lang="zh-TW" alt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8899C2A4-83C3-685E-8153-E742A347E24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23812" y="3002771"/>
            <a:ext cx="1404926" cy="49847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rgbClr val="01507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P.3</a:t>
            </a:r>
            <a:endParaRPr lang="zh-TW" altLang="en-US"/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2DF12DD-9685-DCF2-415D-2879914A071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723812" y="3795900"/>
            <a:ext cx="1404926" cy="49847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rgbClr val="01507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P.4</a:t>
            </a:r>
            <a:endParaRPr lang="zh-TW" altLang="en-US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CE16850D-8C57-76E6-F5E9-7522771E75C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723812" y="4546032"/>
            <a:ext cx="1404926" cy="49847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rgbClr val="01507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P.5</a:t>
            </a:r>
            <a:endParaRPr lang="zh-TW" altLang="en-US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992689DA-2CAB-D38D-8795-61AE0899985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38600" y="5296164"/>
            <a:ext cx="4617720" cy="49847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rgbClr val="01507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主題</a:t>
            </a:r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FCC507A3-3B51-8232-447F-3414F0B552B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723812" y="5296164"/>
            <a:ext cx="1404926" cy="49847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rgbClr val="01507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P.6</a:t>
            </a:r>
            <a:endParaRPr lang="zh-TW" alt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2E8AC715-4C35-F646-FA3F-333A4051EA4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087593" y="948906"/>
            <a:ext cx="1428317" cy="66423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2400"/>
              </a:lnSpc>
              <a:buNone/>
              <a:defRPr sz="4000" b="1">
                <a:solidFill>
                  <a:srgbClr val="1492C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目錄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B7C820E2-9FFC-FD5A-4631-B31DE64026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087593" y="1690708"/>
            <a:ext cx="1428317" cy="29336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2400"/>
              </a:lnSpc>
              <a:buNone/>
              <a:defRPr sz="1800" b="1">
                <a:solidFill>
                  <a:srgbClr val="1492C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CONTENTS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8144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內頁版型-有標題樣式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版面配置區 3">
            <a:extLst>
              <a:ext uri="{FF2B5EF4-FFF2-40B4-BE49-F238E27FC236}">
                <a16:creationId xmlns:a16="http://schemas.microsoft.com/office/drawing/2014/main" id="{6CD9405B-7619-376D-E659-4E58135DADB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40123" y="952926"/>
            <a:ext cx="6319206" cy="4034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F4C74030-0F4F-CF07-3BF9-FDB24263B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6B3400A-19D0-98DB-0281-065724867D07}"/>
              </a:ext>
            </a:extLst>
          </p:cNvPr>
          <p:cNvSpPr txBox="1">
            <a:spLocks/>
          </p:cNvSpPr>
          <p:nvPr userDrawn="1"/>
        </p:nvSpPr>
        <p:spPr>
          <a:xfrm>
            <a:off x="11706044" y="6515712"/>
            <a:ext cx="403891" cy="297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4094CE0-D024-4FC6-B25F-837FC5BFCD48}" type="slidenum">
              <a:rPr lang="zh-TW" altLang="en-US" sz="1400" smtClean="0">
                <a:solidFill>
                  <a:srgbClr val="0150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zh-TW" altLang="en-US" sz="1400">
              <a:solidFill>
                <a:srgbClr val="01507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E0E50BC-F5C4-49D2-1CA3-0127D1D35F0C}"/>
              </a:ext>
            </a:extLst>
          </p:cNvPr>
          <p:cNvSpPr/>
          <p:nvPr userDrawn="1"/>
        </p:nvSpPr>
        <p:spPr>
          <a:xfrm rot="10800000" flipV="1">
            <a:off x="1149878" y="864405"/>
            <a:ext cx="9646764" cy="58704"/>
          </a:xfrm>
          <a:prstGeom prst="rect">
            <a:avLst/>
          </a:prstGeom>
          <a:gradFill>
            <a:gsLst>
              <a:gs pos="11000">
                <a:srgbClr val="00F9D3">
                  <a:alpha val="0"/>
                </a:srgbClr>
              </a:gs>
              <a:gs pos="39000">
                <a:srgbClr val="00F9D3"/>
              </a:gs>
              <a:gs pos="70000">
                <a:srgbClr val="00C3CD"/>
              </a:gs>
              <a:gs pos="100000">
                <a:srgbClr val="008F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866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頁版型-章節頁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: 圓角化對角角落 10">
            <a:extLst>
              <a:ext uri="{FF2B5EF4-FFF2-40B4-BE49-F238E27FC236}">
                <a16:creationId xmlns:a16="http://schemas.microsoft.com/office/drawing/2014/main" id="{6B895336-5AC9-E5CF-A4D8-85C1C67F3950}"/>
              </a:ext>
            </a:extLst>
          </p:cNvPr>
          <p:cNvSpPr/>
          <p:nvPr userDrawn="1"/>
        </p:nvSpPr>
        <p:spPr>
          <a:xfrm>
            <a:off x="873629" y="2122488"/>
            <a:ext cx="7717921" cy="22606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C9F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C04EC57D-C283-E94C-3F99-DFCE4343989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1736636" y="3252844"/>
            <a:ext cx="5675348" cy="0"/>
          </a:xfrm>
          <a:prstGeom prst="line">
            <a:avLst/>
          </a:prstGeom>
          <a:ln w="19050">
            <a:solidFill>
              <a:srgbClr val="008FC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圖片版面配置區 5"/>
          <p:cNvSpPr>
            <a:spLocks noGrp="1"/>
          </p:cNvSpPr>
          <p:nvPr>
            <p:ph type="pic" sz="quarter" idx="23"/>
          </p:nvPr>
        </p:nvSpPr>
        <p:spPr>
          <a:xfrm>
            <a:off x="8078153" y="2122488"/>
            <a:ext cx="2553675" cy="2263775"/>
          </a:xfrm>
          <a:custGeom>
            <a:avLst/>
            <a:gdLst>
              <a:gd name="connsiteX0" fmla="*/ 0 w 2551112"/>
              <a:gd name="connsiteY0" fmla="*/ 0 h 2260600"/>
              <a:gd name="connsiteX1" fmla="*/ 2551112 w 2551112"/>
              <a:gd name="connsiteY1" fmla="*/ 0 h 2260600"/>
              <a:gd name="connsiteX2" fmla="*/ 2551112 w 2551112"/>
              <a:gd name="connsiteY2" fmla="*/ 2260600 h 2260600"/>
              <a:gd name="connsiteX3" fmla="*/ 0 w 2551112"/>
              <a:gd name="connsiteY3" fmla="*/ 2260600 h 2260600"/>
              <a:gd name="connsiteX4" fmla="*/ 0 w 2551112"/>
              <a:gd name="connsiteY4" fmla="*/ 0 h 2260600"/>
              <a:gd name="connsiteX0" fmla="*/ 0 w 2551112"/>
              <a:gd name="connsiteY0" fmla="*/ 0 h 2260600"/>
              <a:gd name="connsiteX1" fmla="*/ 2551112 w 2551112"/>
              <a:gd name="connsiteY1" fmla="*/ 0 h 2260600"/>
              <a:gd name="connsiteX2" fmla="*/ 2551112 w 2551112"/>
              <a:gd name="connsiteY2" fmla="*/ 2260600 h 2260600"/>
              <a:gd name="connsiteX3" fmla="*/ 0 w 2551112"/>
              <a:gd name="connsiteY3" fmla="*/ 2260600 h 2260600"/>
              <a:gd name="connsiteX4" fmla="*/ 0 w 2551112"/>
              <a:gd name="connsiteY4" fmla="*/ 0 h 2260600"/>
              <a:gd name="connsiteX0" fmla="*/ 2551112 w 2642552"/>
              <a:gd name="connsiteY0" fmla="*/ 2260600 h 2352040"/>
              <a:gd name="connsiteX1" fmla="*/ 0 w 2642552"/>
              <a:gd name="connsiteY1" fmla="*/ 2260600 h 2352040"/>
              <a:gd name="connsiteX2" fmla="*/ 0 w 2642552"/>
              <a:gd name="connsiteY2" fmla="*/ 0 h 2352040"/>
              <a:gd name="connsiteX3" fmla="*/ 2551112 w 2642552"/>
              <a:gd name="connsiteY3" fmla="*/ 0 h 2352040"/>
              <a:gd name="connsiteX4" fmla="*/ 2642552 w 2642552"/>
              <a:gd name="connsiteY4" fmla="*/ 2352040 h 2352040"/>
              <a:gd name="connsiteX0" fmla="*/ 2551112 w 2553652"/>
              <a:gd name="connsiteY0" fmla="*/ 2260600 h 2260600"/>
              <a:gd name="connsiteX1" fmla="*/ 0 w 2553652"/>
              <a:gd name="connsiteY1" fmla="*/ 2260600 h 2260600"/>
              <a:gd name="connsiteX2" fmla="*/ 0 w 2553652"/>
              <a:gd name="connsiteY2" fmla="*/ 0 h 2260600"/>
              <a:gd name="connsiteX3" fmla="*/ 2551112 w 2553652"/>
              <a:gd name="connsiteY3" fmla="*/ 0 h 2260600"/>
              <a:gd name="connsiteX4" fmla="*/ 2553652 w 2553652"/>
              <a:gd name="connsiteY4" fmla="*/ 1828165 h 2260600"/>
              <a:gd name="connsiteX0" fmla="*/ 2141537 w 2553652"/>
              <a:gd name="connsiteY0" fmla="*/ 2263775 h 2263775"/>
              <a:gd name="connsiteX1" fmla="*/ 0 w 2553652"/>
              <a:gd name="connsiteY1" fmla="*/ 2260600 h 2263775"/>
              <a:gd name="connsiteX2" fmla="*/ 0 w 2553652"/>
              <a:gd name="connsiteY2" fmla="*/ 0 h 2263775"/>
              <a:gd name="connsiteX3" fmla="*/ 2551112 w 2553652"/>
              <a:gd name="connsiteY3" fmla="*/ 0 h 2263775"/>
              <a:gd name="connsiteX4" fmla="*/ 2553652 w 2553652"/>
              <a:gd name="connsiteY4" fmla="*/ 1828165 h 2263775"/>
              <a:gd name="connsiteX0" fmla="*/ 2017712 w 2553652"/>
              <a:gd name="connsiteY0" fmla="*/ 2260600 h 2260600"/>
              <a:gd name="connsiteX1" fmla="*/ 0 w 2553652"/>
              <a:gd name="connsiteY1" fmla="*/ 2260600 h 2260600"/>
              <a:gd name="connsiteX2" fmla="*/ 0 w 2553652"/>
              <a:gd name="connsiteY2" fmla="*/ 0 h 2260600"/>
              <a:gd name="connsiteX3" fmla="*/ 2551112 w 2553652"/>
              <a:gd name="connsiteY3" fmla="*/ 0 h 2260600"/>
              <a:gd name="connsiteX4" fmla="*/ 2553652 w 2553652"/>
              <a:gd name="connsiteY4" fmla="*/ 1828165 h 2260600"/>
              <a:gd name="connsiteX0" fmla="*/ 2125662 w 2553652"/>
              <a:gd name="connsiteY0" fmla="*/ 2263775 h 2263775"/>
              <a:gd name="connsiteX1" fmla="*/ 0 w 2553652"/>
              <a:gd name="connsiteY1" fmla="*/ 2260600 h 2263775"/>
              <a:gd name="connsiteX2" fmla="*/ 0 w 2553652"/>
              <a:gd name="connsiteY2" fmla="*/ 0 h 2263775"/>
              <a:gd name="connsiteX3" fmla="*/ 2551112 w 2553652"/>
              <a:gd name="connsiteY3" fmla="*/ 0 h 2263775"/>
              <a:gd name="connsiteX4" fmla="*/ 2553652 w 2553652"/>
              <a:gd name="connsiteY4" fmla="*/ 1828165 h 2263775"/>
              <a:gd name="connsiteX0" fmla="*/ 2125662 w 2556827"/>
              <a:gd name="connsiteY0" fmla="*/ 2263775 h 2263775"/>
              <a:gd name="connsiteX1" fmla="*/ 0 w 2556827"/>
              <a:gd name="connsiteY1" fmla="*/ 2260600 h 2263775"/>
              <a:gd name="connsiteX2" fmla="*/ 0 w 2556827"/>
              <a:gd name="connsiteY2" fmla="*/ 0 h 2263775"/>
              <a:gd name="connsiteX3" fmla="*/ 2551112 w 2556827"/>
              <a:gd name="connsiteY3" fmla="*/ 0 h 2263775"/>
              <a:gd name="connsiteX4" fmla="*/ 2556827 w 2556827"/>
              <a:gd name="connsiteY4" fmla="*/ 1767840 h 2263775"/>
              <a:gd name="connsiteX0" fmla="*/ 2125662 w 2553652"/>
              <a:gd name="connsiteY0" fmla="*/ 2263775 h 2263775"/>
              <a:gd name="connsiteX1" fmla="*/ 0 w 2553652"/>
              <a:gd name="connsiteY1" fmla="*/ 2260600 h 2263775"/>
              <a:gd name="connsiteX2" fmla="*/ 0 w 2553652"/>
              <a:gd name="connsiteY2" fmla="*/ 0 h 2263775"/>
              <a:gd name="connsiteX3" fmla="*/ 2551112 w 2553652"/>
              <a:gd name="connsiteY3" fmla="*/ 0 h 2263775"/>
              <a:gd name="connsiteX4" fmla="*/ 2553652 w 2553652"/>
              <a:gd name="connsiteY4" fmla="*/ 1799590 h 2263775"/>
              <a:gd name="connsiteX0" fmla="*/ 2125662 w 2553652"/>
              <a:gd name="connsiteY0" fmla="*/ 2263775 h 2263775"/>
              <a:gd name="connsiteX1" fmla="*/ 0 w 2553652"/>
              <a:gd name="connsiteY1" fmla="*/ 2260600 h 2263775"/>
              <a:gd name="connsiteX2" fmla="*/ 0 w 2553652"/>
              <a:gd name="connsiteY2" fmla="*/ 0 h 2263775"/>
              <a:gd name="connsiteX3" fmla="*/ 2551112 w 2553652"/>
              <a:gd name="connsiteY3" fmla="*/ 0 h 2263775"/>
              <a:gd name="connsiteX4" fmla="*/ 2553652 w 2553652"/>
              <a:gd name="connsiteY4" fmla="*/ 1799590 h 2263775"/>
              <a:gd name="connsiteX5" fmla="*/ 2125662 w 2553652"/>
              <a:gd name="connsiteY5" fmla="*/ 2263775 h 2263775"/>
              <a:gd name="connsiteX0" fmla="*/ 2125662 w 2553652"/>
              <a:gd name="connsiteY0" fmla="*/ 2263775 h 2263775"/>
              <a:gd name="connsiteX1" fmla="*/ 0 w 2553652"/>
              <a:gd name="connsiteY1" fmla="*/ 2260600 h 2263775"/>
              <a:gd name="connsiteX2" fmla="*/ 0 w 2553652"/>
              <a:gd name="connsiteY2" fmla="*/ 0 h 2263775"/>
              <a:gd name="connsiteX3" fmla="*/ 2551112 w 2553652"/>
              <a:gd name="connsiteY3" fmla="*/ 0 h 2263775"/>
              <a:gd name="connsiteX4" fmla="*/ 2553652 w 2553652"/>
              <a:gd name="connsiteY4" fmla="*/ 1799590 h 2263775"/>
              <a:gd name="connsiteX5" fmla="*/ 2125662 w 2553652"/>
              <a:gd name="connsiteY5" fmla="*/ 2263775 h 2263775"/>
              <a:gd name="connsiteX0" fmla="*/ 2125662 w 2553681"/>
              <a:gd name="connsiteY0" fmla="*/ 2263775 h 2263775"/>
              <a:gd name="connsiteX1" fmla="*/ 0 w 2553681"/>
              <a:gd name="connsiteY1" fmla="*/ 2260600 h 2263775"/>
              <a:gd name="connsiteX2" fmla="*/ 0 w 2553681"/>
              <a:gd name="connsiteY2" fmla="*/ 0 h 2263775"/>
              <a:gd name="connsiteX3" fmla="*/ 2551112 w 2553681"/>
              <a:gd name="connsiteY3" fmla="*/ 0 h 2263775"/>
              <a:gd name="connsiteX4" fmla="*/ 2553652 w 2553681"/>
              <a:gd name="connsiteY4" fmla="*/ 1799590 h 2263775"/>
              <a:gd name="connsiteX5" fmla="*/ 2125662 w 2553681"/>
              <a:gd name="connsiteY5" fmla="*/ 2263775 h 2263775"/>
              <a:gd name="connsiteX0" fmla="*/ 2125662 w 2553675"/>
              <a:gd name="connsiteY0" fmla="*/ 2263775 h 2263775"/>
              <a:gd name="connsiteX1" fmla="*/ 0 w 2553675"/>
              <a:gd name="connsiteY1" fmla="*/ 2260600 h 2263775"/>
              <a:gd name="connsiteX2" fmla="*/ 0 w 2553675"/>
              <a:gd name="connsiteY2" fmla="*/ 0 h 2263775"/>
              <a:gd name="connsiteX3" fmla="*/ 2551112 w 2553675"/>
              <a:gd name="connsiteY3" fmla="*/ 0 h 2263775"/>
              <a:gd name="connsiteX4" fmla="*/ 2553652 w 2553675"/>
              <a:gd name="connsiteY4" fmla="*/ 1799590 h 2263775"/>
              <a:gd name="connsiteX5" fmla="*/ 2125662 w 2553675"/>
              <a:gd name="connsiteY5" fmla="*/ 2263775 h 2263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53675" h="2263775">
                <a:moveTo>
                  <a:pt x="2125662" y="2263775"/>
                </a:moveTo>
                <a:lnTo>
                  <a:pt x="0" y="2260600"/>
                </a:lnTo>
                <a:lnTo>
                  <a:pt x="0" y="0"/>
                </a:lnTo>
                <a:lnTo>
                  <a:pt x="2551112" y="0"/>
                </a:lnTo>
                <a:cubicBezTo>
                  <a:pt x="2551112" y="753533"/>
                  <a:pt x="2553652" y="1799590"/>
                  <a:pt x="2553652" y="1799590"/>
                </a:cubicBezTo>
                <a:cubicBezTo>
                  <a:pt x="2557039" y="2274993"/>
                  <a:pt x="2195300" y="2258272"/>
                  <a:pt x="2125662" y="2263775"/>
                </a:cubicBezTo>
                <a:close/>
              </a:path>
            </a:pathLst>
          </a:cu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zh-TW" altLang="en-US"/>
          </a:p>
        </p:txBody>
      </p:sp>
      <p:sp>
        <p:nvSpPr>
          <p:cNvPr id="10" name="標題 5">
            <a:extLst>
              <a:ext uri="{FF2B5EF4-FFF2-40B4-BE49-F238E27FC236}">
                <a16:creationId xmlns:a16="http://schemas.microsoft.com/office/drawing/2014/main" id="{DB2F086E-9D59-87CE-7373-BC99085439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799" y="2608532"/>
            <a:ext cx="6319206" cy="49702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3200">
                <a:solidFill>
                  <a:srgbClr val="0093C1"/>
                </a:solidFill>
              </a:defRPr>
            </a:lvl1pPr>
          </a:lstStyle>
          <a:p>
            <a:r>
              <a:rPr lang="zh-TW" altLang="en-US"/>
              <a:t>按一下以編輯標題樣式</a:t>
            </a:r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1948CFB8-5C17-D5AB-A78D-F7D4B1E1B0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66799" y="3429000"/>
            <a:ext cx="6319206" cy="438053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/>
              <a:t>按一下以編輯子標題樣式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45B5B51-EC6A-4DCA-CA46-A9DE1B7E4024}"/>
              </a:ext>
            </a:extLst>
          </p:cNvPr>
          <p:cNvSpPr txBox="1">
            <a:spLocks/>
          </p:cNvSpPr>
          <p:nvPr userDrawn="1"/>
        </p:nvSpPr>
        <p:spPr>
          <a:xfrm>
            <a:off x="11706044" y="6515712"/>
            <a:ext cx="403891" cy="297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4094CE0-D024-4FC6-B25F-837FC5BFCD48}" type="slidenum">
              <a:rPr lang="zh-TW" altLang="en-US" sz="1400" smtClean="0">
                <a:solidFill>
                  <a:srgbClr val="0150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zh-TW" altLang="en-US" sz="1400">
              <a:solidFill>
                <a:srgbClr val="01507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796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底頁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B402B47-EADD-7479-04D9-117F6C00FF2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40033" y="2848112"/>
            <a:ext cx="2802553" cy="65997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ts val="2400"/>
              </a:lnSpc>
              <a:buNone/>
              <a:defRPr sz="3600" b="1" u="none">
                <a:solidFill>
                  <a:srgbClr val="0093C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altLang="zh-TW" sz="3600" b="1">
                <a:solidFill>
                  <a:srgbClr val="009E9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zh-TW" altLang="en-US">
              <a:solidFill>
                <a:srgbClr val="008FC7"/>
              </a:solidFill>
            </a:endParaRPr>
          </a:p>
        </p:txBody>
      </p:sp>
      <p:pic>
        <p:nvPicPr>
          <p:cNvPr id="4" name="圖片 3" descr="一張含有 字型, 螢幕擷取畫面, 圖形, 平面設計 的圖片&#10;&#10;自動產生的描述">
            <a:extLst>
              <a:ext uri="{FF2B5EF4-FFF2-40B4-BE49-F238E27FC236}">
                <a16:creationId xmlns:a16="http://schemas.microsoft.com/office/drawing/2014/main" id="{93F7CABA-4C51-6957-D88C-D0DEF2794EA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418" y="5970091"/>
            <a:ext cx="1484379" cy="316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089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一欄圖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791" y="63680"/>
            <a:ext cx="8763061" cy="751869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0070C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180445" y="6485561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4094CE0-D024-4FC6-B25F-837FC5BFCD4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1175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B6FD94A-00DE-2BE5-37BA-4778C2AAF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0123" y="302192"/>
            <a:ext cx="9289211" cy="6614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298324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008FC7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genai.owasp.org/resource/owasp-top-10-for-llm-applications-2025/" TargetMode="External"/><Relationship Id="rId3" Type="http://schemas.openxmlformats.org/officeDocument/2006/relationships/hyperlink" Target="https://www.microsoft.com/en-us/corporate-responsibility/responsible-ai-transparency-report/" TargetMode="External"/><Relationship Id="rId7" Type="http://schemas.openxmlformats.org/officeDocument/2006/relationships/hyperlink" Target="https://arxiv.org/pdf/2508.10925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learn.microsoft.com/en-us/azure/ai-foundry/concepts/evaluation-evaluators/risk-safety-evaluators" TargetMode="External"/><Relationship Id="rId5" Type="http://schemas.openxmlformats.org/officeDocument/2006/relationships/hyperlink" Target="https://ai.google.dev/gemma/docs/core/model_card_2" TargetMode="External"/><Relationship Id="rId4" Type="http://schemas.openxmlformats.org/officeDocument/2006/relationships/hyperlink" Target="https://saif.google/secure-ai-framework/risks" TargetMode="External"/><Relationship Id="rId9" Type="http://schemas.openxmlformats.org/officeDocument/2006/relationships/hyperlink" Target="https://www.nist.gov/itl/ai-risk-management-framewor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5BD36D9-F90F-4566-D2C3-E0C42D4F5F3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5150" y="2769025"/>
            <a:ext cx="7128588" cy="659975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zh-TW" altLang="en-US"/>
              <a:t>模型評測機制</a:t>
            </a:r>
            <a:endParaRPr lang="en-US" altLang="zh-TW"/>
          </a:p>
          <a:p>
            <a:pPr algn="just">
              <a:lnSpc>
                <a:spcPct val="150000"/>
              </a:lnSpc>
            </a:pPr>
            <a:r>
              <a:rPr lang="zh-TW" altLang="en-US" sz="2400"/>
              <a:t>安全性 </a:t>
            </a:r>
            <a:r>
              <a:rPr lang="en-US" altLang="zh-TW" sz="2400"/>
              <a:t>(Safety)</a:t>
            </a:r>
          </a:p>
        </p:txBody>
      </p:sp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CD06B430-056F-3413-2A77-D7B66E3C10FC}"/>
              </a:ext>
            </a:extLst>
          </p:cNvPr>
          <p:cNvSpPr txBox="1">
            <a:spLocks/>
          </p:cNvSpPr>
          <p:nvPr/>
        </p:nvSpPr>
        <p:spPr>
          <a:xfrm>
            <a:off x="625150" y="4991878"/>
            <a:ext cx="7128588" cy="786658"/>
          </a:xfrm>
          <a:prstGeom prst="rect">
            <a:avLst/>
          </a:prstGeom>
        </p:spPr>
        <p:txBody>
          <a:bodyPr lIns="91440" tIns="45720" rIns="91440" bIns="45720" anchor="b">
            <a:noAutofit/>
          </a:bodyPr>
          <a:lstStyle>
            <a:lvl1pPr marL="0" indent="0" algn="l" defTabSz="914400" rtl="0" eaLnBrk="1" latinLnBrk="0" hangingPunct="1">
              <a:lnSpc>
                <a:spcPts val="24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 u="none" kern="1200">
                <a:solidFill>
                  <a:srgbClr val="0093C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defRPr/>
            </a:pPr>
            <a:r>
              <a:rPr lang="zh-TW" altLang="en-US" sz="1600">
                <a:latin typeface="微軟正黑體"/>
                <a:ea typeface="微軟正黑體"/>
              </a:rPr>
              <a:t>證券</a:t>
            </a:r>
            <a:r>
              <a:rPr kumimoji="0" lang="zh-TW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93C1"/>
                </a:solidFill>
                <a:effectLst/>
                <a:uLnTx/>
                <a:uFillTx/>
                <a:latin typeface="微軟正黑體"/>
                <a:ea typeface="微軟正黑體"/>
              </a:rPr>
              <a:t>數據科學部 黃昕 </a:t>
            </a:r>
            <a:r>
              <a:rPr lang="zh-TW" altLang="en-US" sz="1600">
                <a:latin typeface="微軟正黑體"/>
                <a:ea typeface="微軟正黑體"/>
              </a:rPr>
              <a:t>陳宥任  產險數據行銷部 時御唐</a:t>
            </a:r>
            <a:endParaRPr kumimoji="0" lang="en-US" altLang="zh-TW" sz="1600" b="1" i="0" u="none" strike="noStrike" kern="1200" cap="none" spc="0" normalizeH="0" baseline="0" noProof="0">
              <a:ln>
                <a:noFill/>
              </a:ln>
              <a:solidFill>
                <a:srgbClr val="0093C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TW" sz="1600">
                <a:latin typeface="微軟正黑體"/>
                <a:ea typeface="微軟正黑體"/>
              </a:rPr>
              <a:t>2025-11-07</a:t>
            </a:r>
            <a:endParaRPr kumimoji="0" lang="zh-TW" altLang="en-US" sz="1600" b="1" i="0" u="none" strike="noStrike" kern="1200" cap="none" spc="0" normalizeH="0" baseline="0" noProof="0">
              <a:ln>
                <a:noFill/>
              </a:ln>
              <a:solidFill>
                <a:srgbClr val="0093C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2224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62BA776B-9179-1CD5-10AF-EF2E38726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3" y="2608532"/>
            <a:ext cx="5644291" cy="497024"/>
          </a:xfrm>
        </p:spPr>
        <p:txBody>
          <a:bodyPr/>
          <a:lstStyle/>
          <a:p>
            <a:r>
              <a:rPr lang="zh-TW" altLang="en-US"/>
              <a:t>一、評測規劃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F8034CE-F4A3-2F70-92A8-D1F3197C0E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41713" y="3429000"/>
            <a:ext cx="5644291" cy="438053"/>
          </a:xfr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4201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3F2FAD20-7C5A-04EF-1095-C2ED396D4D2D}"/>
              </a:ext>
            </a:extLst>
          </p:cNvPr>
          <p:cNvSpPr txBox="1"/>
          <p:nvPr/>
        </p:nvSpPr>
        <p:spPr>
          <a:xfrm>
            <a:off x="391885" y="1200117"/>
            <a:ext cx="10345782" cy="143763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 algn="just" defTabSz="457200">
              <a:lnSpc>
                <a:spcPct val="150000"/>
              </a:lnSpc>
              <a:defRPr/>
            </a:pPr>
            <a:r>
              <a:rPr lang="zh-TW" altLang="en-US" b="1">
                <a:solidFill>
                  <a:srgbClr val="008FC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安全性（</a:t>
            </a:r>
            <a:r>
              <a:rPr lang="en-US" altLang="zh-TW" b="1">
                <a:solidFill>
                  <a:srgbClr val="008FC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Safety</a:t>
            </a:r>
            <a:r>
              <a:rPr lang="zh-TW" altLang="en-US" b="1">
                <a:solidFill>
                  <a:srgbClr val="008FC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US" altLang="zh-TW" b="1">
              <a:solidFill>
                <a:srgbClr val="008FC7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 defTabSz="457200">
              <a:lnSpc>
                <a:spcPct val="150000"/>
              </a:lnSpc>
              <a:defRPr/>
            </a:pPr>
            <a:r>
              <a:rPr lang="zh-TW" sz="1400">
                <a:solidFill>
                  <a:srgbClr val="363636"/>
                </a:solidFill>
                <a:latin typeface="微軟正黑體"/>
                <a:ea typeface="微軟正黑體"/>
              </a:rPr>
              <a:t>Lorem ipsum dolor sit amet, consectetuer adipiscing elit. Aenean commodo ligula eget dolor. Aenean massa. Cum sociis natoque penatibus et magnis dis parturient montes, nascetur ridic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u</a:t>
            </a:r>
            <a:r>
              <a:rPr lang="zh-TW" sz="1400">
                <a:solidFill>
                  <a:srgbClr val="363636"/>
                </a:solidFill>
                <a:latin typeface="微軟正黑體"/>
                <a:ea typeface="微軟正黑體"/>
              </a:rPr>
              <a:t>l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us</a:t>
            </a:r>
            <a:r>
              <a:rPr lang="zh-TW" sz="1400">
                <a:solidFill>
                  <a:srgbClr val="363636"/>
                </a:solidFill>
                <a:latin typeface="微軟正黑體"/>
                <a:ea typeface="微軟正黑體"/>
              </a:rPr>
              <a:t> mus. Donec quam felis, ultricies nec, pellentesque eu, pr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eti</a:t>
            </a:r>
            <a:r>
              <a:rPr lang="zh-TW" sz="1400">
                <a:solidFill>
                  <a:srgbClr val="363636"/>
                </a:solidFill>
                <a:latin typeface="微軟正黑體"/>
                <a:ea typeface="微軟正黑體"/>
              </a:rPr>
              <a:t>um quis, sem.</a:t>
            </a:r>
            <a:endParaRPr lang="en-US"/>
          </a:p>
        </p:txBody>
      </p:sp>
      <p:sp>
        <p:nvSpPr>
          <p:cNvPr id="2" name="標題 2">
            <a:extLst>
              <a:ext uri="{FF2B5EF4-FFF2-40B4-BE49-F238E27FC236}">
                <a16:creationId xmlns:a16="http://schemas.microsoft.com/office/drawing/2014/main" id="{2C5DED89-992F-37D7-05D4-7BB1FB561FA2}"/>
              </a:ext>
            </a:extLst>
          </p:cNvPr>
          <p:cNvSpPr txBox="1">
            <a:spLocks/>
          </p:cNvSpPr>
          <p:nvPr/>
        </p:nvSpPr>
        <p:spPr>
          <a:xfrm>
            <a:off x="391887" y="302192"/>
            <a:ext cx="10345782" cy="6614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>
                <a:solidFill>
                  <a:srgbClr val="008FC7"/>
                </a:solidFill>
              </a:rPr>
              <a:t>一、評測規劃 </a:t>
            </a:r>
            <a:r>
              <a:rPr lang="zh-TW" altLang="en-US" sz="3200" baseline="30000">
                <a:solidFill>
                  <a:srgbClr val="008FC7"/>
                </a:solidFill>
              </a:rPr>
              <a:t>前置研究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09CDBDE-8DBC-9532-948E-E19C14953888}"/>
              </a:ext>
            </a:extLst>
          </p:cNvPr>
          <p:cNvSpPr txBox="1"/>
          <p:nvPr/>
        </p:nvSpPr>
        <p:spPr>
          <a:xfrm>
            <a:off x="391881" y="2811584"/>
            <a:ext cx="10345782" cy="143763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b="1">
                <a:solidFill>
                  <a:srgbClr val="008FC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評測方法研究</a:t>
            </a:r>
            <a:endParaRPr lang="en-US" altLang="zh-TW" b="1">
              <a:solidFill>
                <a:srgbClr val="008FC7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 defTabSz="457200">
              <a:lnSpc>
                <a:spcPct val="150000"/>
              </a:lnSpc>
              <a:defRPr/>
            </a:pPr>
            <a:r>
              <a:rPr lang="zh-TW" sz="1400">
                <a:solidFill>
                  <a:srgbClr val="363636"/>
                </a:solidFill>
                <a:latin typeface="微軟正黑體"/>
                <a:ea typeface="微軟正黑體"/>
              </a:rPr>
              <a:t>L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or</a:t>
            </a:r>
            <a:r>
              <a:rPr lang="zh-TW" sz="1400">
                <a:solidFill>
                  <a:srgbClr val="363636"/>
                </a:solidFill>
                <a:latin typeface="微軟正黑體"/>
                <a:ea typeface="微軟正黑體"/>
              </a:rPr>
              <a:t>e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m</a:t>
            </a:r>
            <a:r>
              <a:rPr lang="zh-TW" altLang="en-US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ipsu</a:t>
            </a:r>
            <a:r>
              <a:rPr lang="zh-TW" sz="1400">
                <a:solidFill>
                  <a:srgbClr val="363636"/>
                </a:solidFill>
                <a:latin typeface="微軟正黑體"/>
                <a:ea typeface="微軟正黑體"/>
              </a:rPr>
              <a:t>m dolor sit</a:t>
            </a:r>
            <a:r>
              <a:rPr lang="zh-TW" altLang="en-US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am</a:t>
            </a:r>
            <a:r>
              <a:rPr lang="zh-TW" sz="1400">
                <a:solidFill>
                  <a:srgbClr val="363636"/>
                </a:solidFill>
                <a:latin typeface="微軟正黑體"/>
                <a:ea typeface="微軟正黑體"/>
              </a:rPr>
              <a:t>et, consectetuer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adipiscing</a:t>
            </a:r>
            <a:r>
              <a:rPr lang="zh-TW" altLang="en-US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elit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.</a:t>
            </a:r>
            <a:r>
              <a:rPr lang="zh-TW" altLang="en-US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Aen</a:t>
            </a:r>
            <a:r>
              <a:rPr lang="zh-TW" sz="1400">
                <a:solidFill>
                  <a:srgbClr val="363636"/>
                </a:solidFill>
                <a:latin typeface="微軟正黑體"/>
                <a:ea typeface="微軟正黑體"/>
              </a:rPr>
              <a:t>ean commodo ligula eget do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lor.</a:t>
            </a:r>
            <a:r>
              <a:rPr lang="zh-TW" altLang="en-US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Aene</a:t>
            </a:r>
            <a:r>
              <a:rPr lang="zh-TW" sz="1400">
                <a:solidFill>
                  <a:srgbClr val="363636"/>
                </a:solidFill>
                <a:latin typeface="微軟正黑體"/>
                <a:ea typeface="微軟正黑體"/>
              </a:rPr>
              <a:t>a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n</a:t>
            </a:r>
            <a:r>
              <a:rPr lang="zh-TW" altLang="en-US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massa</a:t>
            </a:r>
            <a:r>
              <a:rPr lang="zh-TW" sz="1400">
                <a:solidFill>
                  <a:srgbClr val="363636"/>
                </a:solidFill>
                <a:latin typeface="微軟正黑體"/>
                <a:ea typeface="微軟正黑體"/>
              </a:rPr>
              <a:t>. 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Cum</a:t>
            </a:r>
            <a:r>
              <a:rPr lang="zh-TW" altLang="en-US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socii</a:t>
            </a:r>
            <a:r>
              <a:rPr lang="zh-TW" sz="1400">
                <a:solidFill>
                  <a:srgbClr val="363636"/>
                </a:solidFill>
                <a:latin typeface="微軟正黑體"/>
                <a:ea typeface="微軟正黑體"/>
              </a:rPr>
              <a:t>s nat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oque</a:t>
            </a:r>
            <a:r>
              <a:rPr lang="zh-TW" sz="1400">
                <a:solidFill>
                  <a:srgbClr val="363636"/>
                </a:solidFill>
                <a:latin typeface="微軟正黑體"/>
                <a:ea typeface="微軟正黑體"/>
              </a:rPr>
              <a:t> penatibus et magnis dis 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parturient</a:t>
            </a:r>
            <a:r>
              <a:rPr lang="zh-TW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montes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,</a:t>
            </a:r>
            <a:r>
              <a:rPr lang="zh-TW" altLang="en-US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nascetur</a:t>
            </a:r>
            <a:r>
              <a:rPr lang="zh-TW" altLang="en-US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zh-TW" sz="1400">
                <a:solidFill>
                  <a:srgbClr val="363636"/>
                </a:solidFill>
                <a:latin typeface="微軟正黑體"/>
                <a:ea typeface="微軟正黑體"/>
              </a:rPr>
              <a:t>ridiculus mus. Donec quam felis, ultricies nec, pellentesque eu, pretium quis, sem.</a:t>
            </a:r>
            <a:endParaRPr 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B1CD220-18EB-A711-0689-FF681825B1A8}"/>
              </a:ext>
            </a:extLst>
          </p:cNvPr>
          <p:cNvSpPr txBox="1"/>
          <p:nvPr/>
        </p:nvSpPr>
        <p:spPr>
          <a:xfrm>
            <a:off x="391882" y="6398232"/>
            <a:ext cx="10345781" cy="315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defTabSz="457200">
              <a:lnSpc>
                <a:spcPct val="150000"/>
              </a:lnSpc>
              <a:defRPr/>
            </a:pPr>
            <a:r>
              <a:rPr lang="en-US" altLang="zh-TW" sz="1050">
                <a:solidFill>
                  <a:srgbClr val="363636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[</a:t>
            </a:r>
            <a:r>
              <a:rPr lang="zh-TW" altLang="en-US" sz="1050">
                <a:solidFill>
                  <a:srgbClr val="363636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050">
                <a:solidFill>
                  <a:srgbClr val="363636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1]</a:t>
            </a:r>
            <a:r>
              <a:rPr lang="zh-TW" altLang="en-US" sz="1050">
                <a:solidFill>
                  <a:srgbClr val="363636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本次評估主要聚焦於模型本身的資訊揭露部分。</a:t>
            </a:r>
            <a:endParaRPr lang="en-US" altLang="zh-TW" sz="1050">
              <a:solidFill>
                <a:srgbClr val="36363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A949758-1722-E822-3FDA-0BD07ACAAB50}"/>
              </a:ext>
            </a:extLst>
          </p:cNvPr>
          <p:cNvSpPr txBox="1"/>
          <p:nvPr/>
        </p:nvSpPr>
        <p:spPr>
          <a:xfrm>
            <a:off x="391881" y="4494557"/>
            <a:ext cx="10345782" cy="143763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b="1">
                <a:solidFill>
                  <a:srgbClr val="008FC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最終選定評測方式</a:t>
            </a:r>
            <a:endParaRPr lang="en-US" altLang="zh-TW" b="1">
              <a:solidFill>
                <a:srgbClr val="008FC7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 defTabSz="457200">
              <a:lnSpc>
                <a:spcPct val="150000"/>
              </a:lnSpc>
              <a:defRPr/>
            </a:pPr>
            <a:r>
              <a:rPr lang="zh-TW" sz="1400">
                <a:solidFill>
                  <a:srgbClr val="363636"/>
                </a:solidFill>
                <a:latin typeface="微軟正黑體"/>
                <a:ea typeface="微軟正黑體"/>
              </a:rPr>
              <a:t>Lorem ipsum dolor sit amet, consectetuer adipiscing elit. Aenean commodo ligula eget dolor. Aenean massa. Cum sociis natoque penatibus et magnis dis parturient montes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,</a:t>
            </a:r>
            <a:r>
              <a:rPr lang="zh-TW" altLang="en-US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na</a:t>
            </a:r>
            <a:r>
              <a:rPr lang="zh-TW" sz="1400">
                <a:solidFill>
                  <a:srgbClr val="363636"/>
                </a:solidFill>
                <a:latin typeface="微軟正黑體"/>
                <a:ea typeface="微軟正黑體"/>
              </a:rPr>
              <a:t>scetur ridic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ulus</a:t>
            </a:r>
            <a:r>
              <a:rPr lang="zh-TW" altLang="en-US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mu</a:t>
            </a:r>
            <a:r>
              <a:rPr lang="zh-TW" sz="1400">
                <a:solidFill>
                  <a:srgbClr val="363636"/>
                </a:solidFill>
                <a:latin typeface="微軟正黑體"/>
                <a:ea typeface="微軟正黑體"/>
              </a:rPr>
              <a:t>s. Do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nec</a:t>
            </a:r>
            <a:r>
              <a:rPr lang="zh-TW" altLang="en-US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quam</a:t>
            </a:r>
            <a:r>
              <a:rPr lang="zh-TW" altLang="en-US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fe</a:t>
            </a:r>
            <a:r>
              <a:rPr lang="zh-TW" sz="1400">
                <a:solidFill>
                  <a:srgbClr val="363636"/>
                </a:solidFill>
                <a:latin typeface="微軟正黑體"/>
                <a:ea typeface="微軟正黑體"/>
              </a:rPr>
              <a:t>lis, ultricies nec, pellentesque eu, pretium quis, sem.</a:t>
            </a:r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4126494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F9D335CE-E9D9-8224-AE17-1D17BB08C941}"/>
              </a:ext>
            </a:extLst>
          </p:cNvPr>
          <p:cNvSpPr txBox="1">
            <a:spLocks/>
          </p:cNvSpPr>
          <p:nvPr/>
        </p:nvSpPr>
        <p:spPr>
          <a:xfrm>
            <a:off x="391887" y="302192"/>
            <a:ext cx="10345782" cy="6614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>
                <a:solidFill>
                  <a:srgbClr val="008FC7"/>
                </a:solidFill>
              </a:rPr>
              <a:t>一、評測規劃 </a:t>
            </a:r>
            <a:r>
              <a:rPr lang="zh-TW" altLang="en-US" sz="3200" baseline="30000">
                <a:solidFill>
                  <a:srgbClr val="008FC7"/>
                </a:solidFill>
              </a:rPr>
              <a:t>評測項目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528C3A7-57C9-1965-417F-3CB2FAE917E2}"/>
              </a:ext>
            </a:extLst>
          </p:cNvPr>
          <p:cNvSpPr txBox="1"/>
          <p:nvPr/>
        </p:nvSpPr>
        <p:spPr>
          <a:xfrm>
            <a:off x="391885" y="1200117"/>
            <a:ext cx="10345782" cy="10222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defTabSz="457200">
              <a:lnSpc>
                <a:spcPct val="150000"/>
              </a:lnSpc>
              <a:defRPr/>
            </a:pPr>
            <a:r>
              <a:rPr lang="zh-TW" sz="1400">
                <a:solidFill>
                  <a:srgbClr val="363636"/>
                </a:solidFill>
                <a:latin typeface="微軟正黑體"/>
                <a:ea typeface="微軟正黑體"/>
              </a:rPr>
              <a:t>Lorem ipsum dolor sit amet, consectetuer adip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iscing</a:t>
            </a:r>
            <a:r>
              <a:rPr lang="zh-TW" altLang="en-US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elit.</a:t>
            </a:r>
            <a:r>
              <a:rPr lang="zh-TW" altLang="en-US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Aenean</a:t>
            </a:r>
            <a:r>
              <a:rPr lang="zh-TW" sz="1400">
                <a:solidFill>
                  <a:srgbClr val="363636"/>
                </a:solidFill>
                <a:latin typeface="微軟正黑體"/>
                <a:ea typeface="微軟正黑體"/>
              </a:rPr>
              <a:t> commodo lig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ula</a:t>
            </a:r>
            <a:r>
              <a:rPr lang="zh-TW" altLang="en-US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eget</a:t>
            </a:r>
            <a:r>
              <a:rPr lang="zh-TW" altLang="en-US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dolo</a:t>
            </a:r>
            <a:r>
              <a:rPr lang="zh-TW" sz="1400">
                <a:solidFill>
                  <a:srgbClr val="363636"/>
                </a:solidFill>
                <a:latin typeface="微軟正黑體"/>
                <a:ea typeface="微軟正黑體"/>
              </a:rPr>
              <a:t>r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.</a:t>
            </a:r>
            <a:r>
              <a:rPr lang="zh-TW" altLang="en-US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Aenean</a:t>
            </a:r>
            <a:r>
              <a:rPr lang="zh-TW" altLang="en-US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massa.</a:t>
            </a:r>
            <a:r>
              <a:rPr lang="zh-TW" altLang="en-US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Cum</a:t>
            </a:r>
            <a:r>
              <a:rPr lang="zh-TW" altLang="en-US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sociis</a:t>
            </a:r>
            <a:r>
              <a:rPr lang="zh-TW" altLang="en-US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zh-TW" sz="1400">
                <a:solidFill>
                  <a:srgbClr val="363636"/>
                </a:solidFill>
                <a:latin typeface="微軟正黑體"/>
                <a:ea typeface="微軟正黑體"/>
              </a:rPr>
              <a:t>n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atoque</a:t>
            </a:r>
            <a:r>
              <a:rPr lang="zh-TW" altLang="en-US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penatib</a:t>
            </a:r>
            <a:r>
              <a:rPr lang="zh-TW" sz="1400">
                <a:solidFill>
                  <a:srgbClr val="363636"/>
                </a:solidFill>
                <a:latin typeface="微軟正黑體"/>
                <a:ea typeface="微軟正黑體"/>
              </a:rPr>
              <a:t>u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s</a:t>
            </a:r>
            <a:r>
              <a:rPr lang="zh-TW" altLang="en-US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et</a:t>
            </a:r>
            <a:r>
              <a:rPr lang="zh-TW" altLang="en-US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magni</a:t>
            </a:r>
            <a:r>
              <a:rPr lang="zh-TW" sz="1400">
                <a:solidFill>
                  <a:srgbClr val="363636"/>
                </a:solidFill>
                <a:latin typeface="微軟正黑體"/>
                <a:ea typeface="微軟正黑體"/>
              </a:rPr>
              <a:t>s dis parturient mon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tes,</a:t>
            </a:r>
            <a:r>
              <a:rPr lang="zh-TW" altLang="en-US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nascetur</a:t>
            </a:r>
            <a:r>
              <a:rPr lang="zh-TW" altLang="en-US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zh-TW" sz="1400">
                <a:solidFill>
                  <a:srgbClr val="363636"/>
                </a:solidFill>
                <a:latin typeface="微軟正黑體"/>
                <a:ea typeface="微軟正黑體"/>
              </a:rPr>
              <a:t>ridicul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us</a:t>
            </a:r>
            <a:r>
              <a:rPr lang="zh-TW" altLang="en-US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mus.</a:t>
            </a:r>
            <a:r>
              <a:rPr lang="zh-TW" altLang="en-US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zh-TW" sz="1400">
                <a:solidFill>
                  <a:srgbClr val="363636"/>
                </a:solidFill>
                <a:latin typeface="微軟正黑體"/>
                <a:ea typeface="微軟正黑體"/>
              </a:rPr>
              <a:t>Don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ec</a:t>
            </a:r>
            <a:r>
              <a:rPr lang="zh-TW" altLang="en-US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quam</a:t>
            </a:r>
            <a:r>
              <a:rPr lang="zh-TW" altLang="en-US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zh-TW" sz="1400">
                <a:solidFill>
                  <a:srgbClr val="363636"/>
                </a:solidFill>
                <a:latin typeface="微軟正黑體"/>
                <a:ea typeface="微軟正黑體"/>
              </a:rPr>
              <a:t>felis, ultricie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s</a:t>
            </a:r>
            <a:r>
              <a:rPr lang="zh-TW" altLang="en-US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nec,</a:t>
            </a:r>
            <a:r>
              <a:rPr lang="zh-TW" altLang="en-US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p</a:t>
            </a:r>
            <a:r>
              <a:rPr lang="zh-TW" sz="1400">
                <a:solidFill>
                  <a:srgbClr val="363636"/>
                </a:solidFill>
                <a:latin typeface="微軟正黑體"/>
                <a:ea typeface="微軟正黑體"/>
              </a:rPr>
              <a:t>ellen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tes</a:t>
            </a:r>
            <a:r>
              <a:rPr lang="zh-TW" sz="1400">
                <a:solidFill>
                  <a:srgbClr val="363636"/>
                </a:solidFill>
                <a:latin typeface="微軟正黑體"/>
                <a:ea typeface="微軟正黑體"/>
              </a:rPr>
              <a:t>que eu, pretium quis, sem.</a:t>
            </a:r>
            <a:endParaRPr lang="zh-TW" altLang="en-US"/>
          </a:p>
        </p:txBody>
      </p: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1EF4D818-D825-C803-626B-C546FAEC56FA}"/>
              </a:ext>
            </a:extLst>
          </p:cNvPr>
          <p:cNvGrpSpPr/>
          <p:nvPr/>
        </p:nvGrpSpPr>
        <p:grpSpPr>
          <a:xfrm>
            <a:off x="1984588" y="4373340"/>
            <a:ext cx="8966718" cy="410883"/>
            <a:chOff x="1300781" y="3460743"/>
            <a:chExt cx="8966718" cy="410883"/>
          </a:xfrm>
        </p:grpSpPr>
        <p:sp>
          <p:nvSpPr>
            <p:cNvPr id="49" name="矩形: 圓角 48">
              <a:extLst>
                <a:ext uri="{FF2B5EF4-FFF2-40B4-BE49-F238E27FC236}">
                  <a16:creationId xmlns:a16="http://schemas.microsoft.com/office/drawing/2014/main" id="{EF581F86-B90A-7C9A-0F99-BC88EAD94A7C}"/>
                </a:ext>
              </a:extLst>
            </p:cNvPr>
            <p:cNvSpPr/>
            <p:nvPr/>
          </p:nvSpPr>
          <p:spPr>
            <a:xfrm>
              <a:off x="1300781" y="3460743"/>
              <a:ext cx="1804368" cy="410883"/>
            </a:xfrm>
            <a:prstGeom prst="roundRect">
              <a:avLst>
                <a:gd name="adj" fmla="val 699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>
                  <a:solidFill>
                    <a:schemeClr val="tx1"/>
                  </a:solidFill>
                </a:rPr>
                <a:t>Intended usage</a:t>
              </a:r>
              <a:endParaRPr lang="zh-TW" altLang="en-US" sz="1400" b="1">
                <a:solidFill>
                  <a:schemeClr val="tx1"/>
                </a:solidFill>
              </a:endParaRPr>
            </a:p>
          </p:txBody>
        </p:sp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A6E40A2A-931B-A107-6110-2FDB09DD02E3}"/>
                </a:ext>
              </a:extLst>
            </p:cNvPr>
            <p:cNvSpPr txBox="1"/>
            <p:nvPr/>
          </p:nvSpPr>
          <p:spPr>
            <a:xfrm>
              <a:off x="3105148" y="3460743"/>
              <a:ext cx="7162351" cy="4086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anchorCtr="0">
              <a:noAutofit/>
            </a:bodyPr>
            <a:lstStyle/>
            <a:p>
              <a:pPr algn="just" defTabSz="457200">
                <a:lnSpc>
                  <a:spcPct val="150000"/>
                </a:lnSpc>
                <a:defRPr/>
              </a:pPr>
              <a:r>
                <a:rPr lang="zh-TW" altLang="en-US" sz="1200">
                  <a:solidFill>
                    <a:srgbClr val="363636"/>
                  </a:solidFill>
                  <a:latin typeface="微軟正黑體" panose="020B0604030504040204" pitchFamily="34" charset="-120"/>
                </a:rPr>
                <a:t>預期用途說明模型的設計目標及其對終端使用者的運作方式，並可能列出特定應用場景或平台</a:t>
              </a:r>
            </a:p>
          </p:txBody>
        </p:sp>
      </p:grpSp>
      <p:grpSp>
        <p:nvGrpSpPr>
          <p:cNvPr id="51" name="群組 50">
            <a:extLst>
              <a:ext uri="{FF2B5EF4-FFF2-40B4-BE49-F238E27FC236}">
                <a16:creationId xmlns:a16="http://schemas.microsoft.com/office/drawing/2014/main" id="{226F7C9E-58A2-8CA8-C8AC-F3EDE7A20E2B}"/>
              </a:ext>
            </a:extLst>
          </p:cNvPr>
          <p:cNvGrpSpPr/>
          <p:nvPr/>
        </p:nvGrpSpPr>
        <p:grpSpPr>
          <a:xfrm>
            <a:off x="1984588" y="4852321"/>
            <a:ext cx="8966718" cy="410883"/>
            <a:chOff x="1300781" y="3460743"/>
            <a:chExt cx="8966718" cy="410883"/>
          </a:xfrm>
        </p:grpSpPr>
        <p:sp>
          <p:nvSpPr>
            <p:cNvPr id="52" name="矩形: 圓角 51">
              <a:extLst>
                <a:ext uri="{FF2B5EF4-FFF2-40B4-BE49-F238E27FC236}">
                  <a16:creationId xmlns:a16="http://schemas.microsoft.com/office/drawing/2014/main" id="{67D550CC-8664-877B-7454-B5956AAA8830}"/>
                </a:ext>
              </a:extLst>
            </p:cNvPr>
            <p:cNvSpPr/>
            <p:nvPr/>
          </p:nvSpPr>
          <p:spPr>
            <a:xfrm>
              <a:off x="1300781" y="3460743"/>
              <a:ext cx="1804368" cy="410883"/>
            </a:xfrm>
            <a:prstGeom prst="roundRect">
              <a:avLst>
                <a:gd name="adj" fmla="val 699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>
                  <a:solidFill>
                    <a:schemeClr val="tx1"/>
                  </a:solidFill>
                </a:rPr>
                <a:t>Limitations</a:t>
              </a:r>
              <a:endParaRPr lang="zh-TW" altLang="en-US" sz="1400" b="1">
                <a:solidFill>
                  <a:schemeClr val="tx1"/>
                </a:solidFill>
              </a:endParaRPr>
            </a:p>
          </p:txBody>
        </p:sp>
        <p:sp>
          <p:nvSpPr>
            <p:cNvPr id="53" name="文字方塊 52">
              <a:extLst>
                <a:ext uri="{FF2B5EF4-FFF2-40B4-BE49-F238E27FC236}">
                  <a16:creationId xmlns:a16="http://schemas.microsoft.com/office/drawing/2014/main" id="{04A53F28-E267-AF81-CD72-6DCA1F620460}"/>
                </a:ext>
              </a:extLst>
            </p:cNvPr>
            <p:cNvSpPr txBox="1"/>
            <p:nvPr/>
          </p:nvSpPr>
          <p:spPr>
            <a:xfrm>
              <a:off x="3105148" y="3460743"/>
              <a:ext cx="7162351" cy="4086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anchorCtr="0">
              <a:noAutofit/>
            </a:bodyPr>
            <a:lstStyle/>
            <a:p>
              <a:pPr algn="just" defTabSz="457200">
                <a:lnSpc>
                  <a:spcPct val="150000"/>
                </a:lnSpc>
                <a:defRPr/>
              </a:pPr>
              <a:r>
                <a:rPr lang="zh-TW" altLang="en-US" sz="1200">
                  <a:solidFill>
                    <a:srgbClr val="363636"/>
                  </a:solidFill>
                  <a:latin typeface="微軟正黑體" panose="020B0604030504040204" pitchFamily="34" charset="-120"/>
                </a:rPr>
                <a:t>說明模型已知的潛在限制。部分模型卡會指出影響模型效能的因素，以及有效使用模型所需滿足的條件</a:t>
              </a:r>
            </a:p>
          </p:txBody>
        </p:sp>
      </p:grpSp>
      <p:grpSp>
        <p:nvGrpSpPr>
          <p:cNvPr id="60" name="群組 59">
            <a:extLst>
              <a:ext uri="{FF2B5EF4-FFF2-40B4-BE49-F238E27FC236}">
                <a16:creationId xmlns:a16="http://schemas.microsoft.com/office/drawing/2014/main" id="{F560D5C1-89EE-42EE-B462-E2B5857A814A}"/>
              </a:ext>
            </a:extLst>
          </p:cNvPr>
          <p:cNvGrpSpPr/>
          <p:nvPr/>
        </p:nvGrpSpPr>
        <p:grpSpPr>
          <a:xfrm>
            <a:off x="1984588" y="5331302"/>
            <a:ext cx="8966718" cy="410883"/>
            <a:chOff x="1300781" y="3460743"/>
            <a:chExt cx="8966718" cy="410883"/>
          </a:xfrm>
        </p:grpSpPr>
        <p:sp>
          <p:nvSpPr>
            <p:cNvPr id="61" name="矩形: 圓角 60">
              <a:extLst>
                <a:ext uri="{FF2B5EF4-FFF2-40B4-BE49-F238E27FC236}">
                  <a16:creationId xmlns:a16="http://schemas.microsoft.com/office/drawing/2014/main" id="{EC5F172A-D8FD-940C-5ECA-76793B6B523C}"/>
                </a:ext>
              </a:extLst>
            </p:cNvPr>
            <p:cNvSpPr/>
            <p:nvPr/>
          </p:nvSpPr>
          <p:spPr>
            <a:xfrm>
              <a:off x="1300781" y="3460743"/>
              <a:ext cx="1804368" cy="410883"/>
            </a:xfrm>
            <a:prstGeom prst="roundRect">
              <a:avLst>
                <a:gd name="adj" fmla="val 699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>
                  <a:solidFill>
                    <a:schemeClr val="tx1"/>
                  </a:solidFill>
                </a:rPr>
                <a:t>Performance</a:t>
              </a:r>
              <a:endParaRPr lang="zh-TW" altLang="en-US" sz="1400" b="1">
                <a:solidFill>
                  <a:schemeClr val="tx1"/>
                </a:solidFill>
              </a:endParaRPr>
            </a:p>
          </p:txBody>
        </p:sp>
        <p:sp>
          <p:nvSpPr>
            <p:cNvPr id="62" name="文字方塊 61">
              <a:extLst>
                <a:ext uri="{FF2B5EF4-FFF2-40B4-BE49-F238E27FC236}">
                  <a16:creationId xmlns:a16="http://schemas.microsoft.com/office/drawing/2014/main" id="{1CB007D5-E9A2-109C-48FF-882632A4D42D}"/>
                </a:ext>
              </a:extLst>
            </p:cNvPr>
            <p:cNvSpPr txBox="1"/>
            <p:nvPr/>
          </p:nvSpPr>
          <p:spPr>
            <a:xfrm>
              <a:off x="3105148" y="3460743"/>
              <a:ext cx="7162351" cy="4086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anchorCtr="0">
              <a:noAutofit/>
            </a:bodyPr>
            <a:lstStyle/>
            <a:p>
              <a:pPr algn="just" defTabSz="457200">
                <a:lnSpc>
                  <a:spcPct val="150000"/>
                </a:lnSpc>
                <a:defRPr/>
              </a:pPr>
              <a:r>
                <a:rPr lang="zh-TW" altLang="en-US" sz="1200">
                  <a:solidFill>
                    <a:srgbClr val="363636"/>
                  </a:solidFill>
                  <a:latin typeface="微軟正黑體" panose="020B0604030504040204" pitchFamily="34" charset="-120"/>
                </a:rPr>
                <a:t>可評估模型校能的資訊，如業界或學術界常用的 </a:t>
              </a:r>
              <a:r>
                <a:rPr lang="en-US" altLang="zh-TW" sz="1200">
                  <a:solidFill>
                    <a:srgbClr val="363636"/>
                  </a:solidFill>
                  <a:latin typeface="微軟正黑體" panose="020B0604030504040204" pitchFamily="34" charset="-120"/>
                </a:rPr>
                <a:t>Benchmark</a:t>
              </a:r>
              <a:r>
                <a:rPr lang="zh-TW" altLang="en-US" sz="1200">
                  <a:solidFill>
                    <a:srgbClr val="363636"/>
                  </a:solidFill>
                  <a:latin typeface="微軟正黑體" panose="020B0604030504040204" pitchFamily="34" charset="-120"/>
                </a:rPr>
                <a:t> 評測指標</a:t>
              </a:r>
            </a:p>
          </p:txBody>
        </p:sp>
      </p:grpSp>
      <p:grpSp>
        <p:nvGrpSpPr>
          <p:cNvPr id="63" name="群組 62">
            <a:extLst>
              <a:ext uri="{FF2B5EF4-FFF2-40B4-BE49-F238E27FC236}">
                <a16:creationId xmlns:a16="http://schemas.microsoft.com/office/drawing/2014/main" id="{55B17539-FB0B-20DD-0BB8-09BA72691FA7}"/>
              </a:ext>
            </a:extLst>
          </p:cNvPr>
          <p:cNvGrpSpPr/>
          <p:nvPr/>
        </p:nvGrpSpPr>
        <p:grpSpPr>
          <a:xfrm>
            <a:off x="1984588" y="5810283"/>
            <a:ext cx="8966718" cy="561942"/>
            <a:chOff x="1300781" y="3460743"/>
            <a:chExt cx="8966718" cy="561942"/>
          </a:xfrm>
        </p:grpSpPr>
        <p:sp>
          <p:nvSpPr>
            <p:cNvPr id="64" name="矩形: 圓角 63">
              <a:extLst>
                <a:ext uri="{FF2B5EF4-FFF2-40B4-BE49-F238E27FC236}">
                  <a16:creationId xmlns:a16="http://schemas.microsoft.com/office/drawing/2014/main" id="{B7083118-AEF6-A8EC-42B5-7AD1E9F6B497}"/>
                </a:ext>
              </a:extLst>
            </p:cNvPr>
            <p:cNvSpPr/>
            <p:nvPr/>
          </p:nvSpPr>
          <p:spPr>
            <a:xfrm>
              <a:off x="1300781" y="3460743"/>
              <a:ext cx="1804368" cy="561942"/>
            </a:xfrm>
            <a:prstGeom prst="roundRect">
              <a:avLst>
                <a:gd name="adj" fmla="val 699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>
                  <a:solidFill>
                    <a:schemeClr val="tx1"/>
                  </a:solidFill>
                </a:rPr>
                <a:t>Ethics and Safety</a:t>
              </a:r>
              <a:endParaRPr lang="zh-TW" altLang="en-US" sz="1400" b="1">
                <a:solidFill>
                  <a:schemeClr val="tx1"/>
                </a:solidFill>
              </a:endParaRPr>
            </a:p>
          </p:txBody>
        </p:sp>
        <p:sp>
          <p:nvSpPr>
            <p:cNvPr id="65" name="文字方塊 64">
              <a:extLst>
                <a:ext uri="{FF2B5EF4-FFF2-40B4-BE49-F238E27FC236}">
                  <a16:creationId xmlns:a16="http://schemas.microsoft.com/office/drawing/2014/main" id="{9F6EAA53-CE50-61F6-CB88-EF5D8A838B18}"/>
                </a:ext>
              </a:extLst>
            </p:cNvPr>
            <p:cNvSpPr txBox="1"/>
            <p:nvPr/>
          </p:nvSpPr>
          <p:spPr>
            <a:xfrm>
              <a:off x="3105148" y="3460743"/>
              <a:ext cx="7162351" cy="5619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anchorCtr="0">
              <a:noAutofit/>
            </a:bodyPr>
            <a:lstStyle/>
            <a:p>
              <a:pPr algn="just" defTabSz="457200">
                <a:lnSpc>
                  <a:spcPct val="150000"/>
                </a:lnSpc>
                <a:defRPr/>
              </a:pPr>
              <a:r>
                <a:rPr lang="zh-TW" altLang="en-US" sz="1200">
                  <a:solidFill>
                    <a:srgbClr val="363636"/>
                  </a:solidFill>
                  <a:latin typeface="微軟正黑體" panose="020B0604030504040204" pitchFamily="34" charset="-120"/>
                </a:rPr>
                <a:t>說明用於評估模型責任議題的方法，包括對抗性測試、紅隊測試等安全性檢驗技術；同時會列出評估結果、模型潛在風險，以及所採取的風險緩解措施</a:t>
              </a:r>
            </a:p>
          </p:txBody>
        </p:sp>
      </p:grpSp>
      <p:sp>
        <p:nvSpPr>
          <p:cNvPr id="67" name="矩形: 圓角 66">
            <a:extLst>
              <a:ext uri="{FF2B5EF4-FFF2-40B4-BE49-F238E27FC236}">
                <a16:creationId xmlns:a16="http://schemas.microsoft.com/office/drawing/2014/main" id="{1188D8ED-B009-BDDF-C9BE-C9EFC2A9A4ED}"/>
              </a:ext>
            </a:extLst>
          </p:cNvPr>
          <p:cNvSpPr/>
          <p:nvPr/>
        </p:nvSpPr>
        <p:spPr>
          <a:xfrm>
            <a:off x="391885" y="4373338"/>
            <a:ext cx="1535975" cy="887669"/>
          </a:xfrm>
          <a:prstGeom prst="roundRect">
            <a:avLst>
              <a:gd name="adj" fmla="val 6996"/>
            </a:avLst>
          </a:prstGeom>
          <a:solidFill>
            <a:srgbClr val="B7D7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TW" sz="1400" b="1">
                <a:solidFill>
                  <a:schemeClr val="tx1"/>
                </a:solidFill>
              </a:rPr>
              <a:t>Model Usage and Limitations</a:t>
            </a:r>
          </a:p>
        </p:txBody>
      </p:sp>
      <p:sp>
        <p:nvSpPr>
          <p:cNvPr id="69" name="矩形: 圓角 68">
            <a:extLst>
              <a:ext uri="{FF2B5EF4-FFF2-40B4-BE49-F238E27FC236}">
                <a16:creationId xmlns:a16="http://schemas.microsoft.com/office/drawing/2014/main" id="{9451677C-ED48-C38F-87CB-1C884B0FF044}"/>
              </a:ext>
            </a:extLst>
          </p:cNvPr>
          <p:cNvSpPr/>
          <p:nvPr/>
        </p:nvSpPr>
        <p:spPr>
          <a:xfrm>
            <a:off x="391884" y="5331301"/>
            <a:ext cx="1535975" cy="1040923"/>
          </a:xfrm>
          <a:prstGeom prst="roundRect">
            <a:avLst>
              <a:gd name="adj" fmla="val 6996"/>
            </a:avLst>
          </a:prstGeom>
          <a:solidFill>
            <a:srgbClr val="B7D7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>
                <a:solidFill>
                  <a:schemeClr val="tx1"/>
                </a:solidFill>
              </a:rPr>
              <a:t>Evaluation</a:t>
            </a:r>
            <a:endParaRPr lang="zh-TW" altLang="en-US" sz="14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1986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9F3D205A-3C22-553B-358A-A81ACC524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7511" y="1293223"/>
            <a:ext cx="10575571" cy="4990012"/>
          </a:xfrm>
          <a:prstGeom prst="roundRect">
            <a:avLst>
              <a:gd name="adj" fmla="val 1443"/>
            </a:avLst>
          </a:prstGeom>
          <a:solidFill>
            <a:srgbClr val="DBEBFE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標題 2">
            <a:extLst>
              <a:ext uri="{FF2B5EF4-FFF2-40B4-BE49-F238E27FC236}">
                <a16:creationId xmlns:a16="http://schemas.microsoft.com/office/drawing/2014/main" id="{01A64584-C7E7-5601-6D87-58380994F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87" y="302192"/>
            <a:ext cx="10345782" cy="661418"/>
          </a:xfrm>
        </p:spPr>
        <p:txBody>
          <a:bodyPr>
            <a:normAutofit/>
          </a:bodyPr>
          <a:lstStyle/>
          <a:p>
            <a:r>
              <a:rPr lang="zh-TW" altLang="en-US" sz="3200">
                <a:solidFill>
                  <a:srgbClr val="008FC7"/>
                </a:solidFill>
              </a:rPr>
              <a:t>一、評測規劃 </a:t>
            </a:r>
            <a:r>
              <a:rPr lang="zh-TW" altLang="en-US" sz="3200" baseline="30000">
                <a:solidFill>
                  <a:srgbClr val="008FC7"/>
                </a:solidFill>
              </a:rPr>
              <a:t>評測流程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80CEAC3F-6306-333E-7DBF-79506994190E}"/>
              </a:ext>
            </a:extLst>
          </p:cNvPr>
          <p:cNvSpPr/>
          <p:nvPr/>
        </p:nvSpPr>
        <p:spPr>
          <a:xfrm>
            <a:off x="664612" y="3138620"/>
            <a:ext cx="1396944" cy="1321717"/>
          </a:xfrm>
          <a:prstGeom prst="roundRect">
            <a:avLst>
              <a:gd name="adj" fmla="val 6996"/>
            </a:avLst>
          </a:prstGeom>
          <a:solidFill>
            <a:srgbClr val="B7D7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b="1">
                <a:solidFill>
                  <a:schemeClr val="tx1"/>
                </a:solidFill>
              </a:rPr>
              <a:t>Open LLM</a:t>
            </a:r>
            <a:endParaRPr lang="zh-TW" altLang="en-US" sz="1600" b="1">
              <a:solidFill>
                <a:schemeClr val="tx1"/>
              </a:solidFill>
            </a:endParaRP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2548DD02-BCD3-BB18-D1A6-3E2317B6C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2061556" y="2166647"/>
            <a:ext cx="361716" cy="16328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D1287A35-0852-E207-2BE7-B0593BEED678}"/>
              </a:ext>
            </a:extLst>
          </p:cNvPr>
          <p:cNvSpPr/>
          <p:nvPr/>
        </p:nvSpPr>
        <p:spPr>
          <a:xfrm>
            <a:off x="4365753" y="1836217"/>
            <a:ext cx="3453946" cy="660860"/>
          </a:xfrm>
          <a:prstGeom prst="roundRect">
            <a:avLst>
              <a:gd name="adj" fmla="val 699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>
                <a:solidFill>
                  <a:schemeClr val="tx1"/>
                </a:solidFill>
              </a:rPr>
              <a:t>檢核符合透明性揭露內容</a:t>
            </a:r>
          </a:p>
        </p:txBody>
      </p:sp>
      <p:sp>
        <p:nvSpPr>
          <p:cNvPr id="36" name="矩形: 圓角 35">
            <a:extLst>
              <a:ext uri="{FF2B5EF4-FFF2-40B4-BE49-F238E27FC236}">
                <a16:creationId xmlns:a16="http://schemas.microsoft.com/office/drawing/2014/main" id="{C1674800-5EB9-05CA-3BF3-B7676593453C}"/>
              </a:ext>
            </a:extLst>
          </p:cNvPr>
          <p:cNvSpPr/>
          <p:nvPr/>
        </p:nvSpPr>
        <p:spPr>
          <a:xfrm>
            <a:off x="6118201" y="2586444"/>
            <a:ext cx="1707223" cy="410883"/>
          </a:xfrm>
          <a:prstGeom prst="roundRect">
            <a:avLst>
              <a:gd name="adj" fmla="val 6996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>
                <a:solidFill>
                  <a:schemeClr val="tx1"/>
                </a:solidFill>
              </a:rPr>
              <a:t>Intended usage</a:t>
            </a:r>
            <a:endParaRPr lang="zh-TW" altLang="en-US" sz="1400" b="1">
              <a:solidFill>
                <a:schemeClr val="tx1"/>
              </a:solidFill>
            </a:endParaRPr>
          </a:p>
        </p:txBody>
      </p:sp>
      <p:sp>
        <p:nvSpPr>
          <p:cNvPr id="46" name="矩形: 圓角 45">
            <a:extLst>
              <a:ext uri="{FF2B5EF4-FFF2-40B4-BE49-F238E27FC236}">
                <a16:creationId xmlns:a16="http://schemas.microsoft.com/office/drawing/2014/main" id="{06B130A9-6D66-8B9E-6641-613701D57CE6}"/>
              </a:ext>
            </a:extLst>
          </p:cNvPr>
          <p:cNvSpPr/>
          <p:nvPr/>
        </p:nvSpPr>
        <p:spPr>
          <a:xfrm>
            <a:off x="8386352" y="3138622"/>
            <a:ext cx="1521707" cy="1321716"/>
          </a:xfrm>
          <a:prstGeom prst="roundRect">
            <a:avLst>
              <a:gd name="adj" fmla="val 699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>
                <a:solidFill>
                  <a:schemeClr val="tx1"/>
                </a:solidFill>
              </a:rPr>
              <a:t>疑慮內容裁示</a:t>
            </a:r>
          </a:p>
        </p:txBody>
      </p:sp>
      <p:pic>
        <p:nvPicPr>
          <p:cNvPr id="49" name="圖片 48" descr="一張含有 黑色, 黑暗 的圖片&#10;&#10;AI 產生的內容可能不正確。">
            <a:extLst>
              <a:ext uri="{FF2B5EF4-FFF2-40B4-BE49-F238E27FC236}">
                <a16:creationId xmlns:a16="http://schemas.microsoft.com/office/drawing/2014/main" id="{5DB2DF13-7E9A-53AA-A896-FE6A0295C3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7618" y="4739776"/>
            <a:ext cx="669123" cy="669123"/>
          </a:xfrm>
          <a:prstGeom prst="rect">
            <a:avLst/>
          </a:prstGeom>
        </p:spPr>
      </p:pic>
      <p:sp>
        <p:nvSpPr>
          <p:cNvPr id="50" name="矩形: 圓角 49">
            <a:extLst>
              <a:ext uri="{FF2B5EF4-FFF2-40B4-BE49-F238E27FC236}">
                <a16:creationId xmlns:a16="http://schemas.microsoft.com/office/drawing/2014/main" id="{B2099078-6282-8D19-614B-32E38D57BBC8}"/>
              </a:ext>
            </a:extLst>
          </p:cNvPr>
          <p:cNvSpPr/>
          <p:nvPr/>
        </p:nvSpPr>
        <p:spPr>
          <a:xfrm>
            <a:off x="8386352" y="5473642"/>
            <a:ext cx="1521707" cy="479448"/>
          </a:xfrm>
          <a:prstGeom prst="roundRect">
            <a:avLst>
              <a:gd name="adj" fmla="val 6996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>
                <a:solidFill>
                  <a:schemeClr val="tx1"/>
                </a:solidFill>
              </a:rPr>
              <a:t>人工智慧</a:t>
            </a:r>
            <a:endParaRPr lang="en-US" altLang="zh-TW" sz="1400" b="1">
              <a:solidFill>
                <a:schemeClr val="tx1"/>
              </a:solidFill>
            </a:endParaRPr>
          </a:p>
          <a:p>
            <a:pPr algn="ctr"/>
            <a:r>
              <a:rPr lang="zh-TW" altLang="en-US" sz="1400" b="1">
                <a:solidFill>
                  <a:schemeClr val="tx1"/>
                </a:solidFill>
              </a:rPr>
              <a:t>治理委員會</a:t>
            </a:r>
          </a:p>
        </p:txBody>
      </p:sp>
      <p:cxnSp>
        <p:nvCxnSpPr>
          <p:cNvPr id="51" name="直線單箭頭接點 50">
            <a:extLst>
              <a:ext uri="{FF2B5EF4-FFF2-40B4-BE49-F238E27FC236}">
                <a16:creationId xmlns:a16="http://schemas.microsoft.com/office/drawing/2014/main" id="{BB83377C-BD07-1FB7-2AB7-409E15E08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49" idx="0"/>
            <a:endCxn id="46" idx="2"/>
          </p:cNvCxnSpPr>
          <p:nvPr/>
        </p:nvCxnSpPr>
        <p:spPr>
          <a:xfrm flipH="1" flipV="1">
            <a:off x="9147206" y="4460338"/>
            <a:ext cx="4974" cy="2794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接點: 肘形 62">
            <a:extLst>
              <a:ext uri="{FF2B5EF4-FFF2-40B4-BE49-F238E27FC236}">
                <a16:creationId xmlns:a16="http://schemas.microsoft.com/office/drawing/2014/main" id="{24BE8DAE-6AAC-293E-09AB-16753B7C8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25" idx="3"/>
            <a:endCxn id="46" idx="1"/>
          </p:cNvCxnSpPr>
          <p:nvPr/>
        </p:nvCxnSpPr>
        <p:spPr>
          <a:xfrm>
            <a:off x="7819699" y="2166647"/>
            <a:ext cx="566653" cy="1632833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矩形: 圓角 73">
            <a:extLst>
              <a:ext uri="{FF2B5EF4-FFF2-40B4-BE49-F238E27FC236}">
                <a16:creationId xmlns:a16="http://schemas.microsoft.com/office/drawing/2014/main" id="{58A96DD5-566C-E7B6-481A-609DE53AAA44}"/>
              </a:ext>
            </a:extLst>
          </p:cNvPr>
          <p:cNvSpPr/>
          <p:nvPr/>
        </p:nvSpPr>
        <p:spPr>
          <a:xfrm>
            <a:off x="10150048" y="2341840"/>
            <a:ext cx="612591" cy="2915279"/>
          </a:xfrm>
          <a:prstGeom prst="roundRect">
            <a:avLst>
              <a:gd name="adj" fmla="val 699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>
                <a:solidFill>
                  <a:schemeClr val="tx1"/>
                </a:solidFill>
              </a:rPr>
              <a:t>透明性評測</a:t>
            </a:r>
            <a:endParaRPr lang="en-US" altLang="zh-TW" sz="1600" b="1">
              <a:solidFill>
                <a:schemeClr val="tx1"/>
              </a:solidFill>
            </a:endParaRPr>
          </a:p>
          <a:p>
            <a:pPr algn="ctr"/>
            <a:r>
              <a:rPr lang="zh-TW" altLang="en-US" sz="1600" b="1">
                <a:solidFill>
                  <a:schemeClr val="tx1"/>
                </a:solidFill>
              </a:rPr>
              <a:t>通</a:t>
            </a:r>
            <a:endParaRPr lang="en-US" altLang="zh-TW" sz="1600" b="1">
              <a:solidFill>
                <a:schemeClr val="tx1"/>
              </a:solidFill>
            </a:endParaRPr>
          </a:p>
          <a:p>
            <a:pPr algn="ctr"/>
            <a:r>
              <a:rPr lang="zh-TW" altLang="en-US" sz="1600" b="1">
                <a:solidFill>
                  <a:schemeClr val="tx1"/>
                </a:solidFill>
              </a:rPr>
              <a:t>過</a:t>
            </a:r>
            <a:endParaRPr lang="en-US" altLang="zh-TW" sz="1600" b="1">
              <a:solidFill>
                <a:schemeClr val="tx1"/>
              </a:solidFill>
            </a:endParaRPr>
          </a:p>
          <a:p>
            <a:pPr algn="ctr"/>
            <a:r>
              <a:rPr lang="zh-TW" altLang="en-US" sz="1600" b="1">
                <a:solidFill>
                  <a:schemeClr val="tx1"/>
                </a:solidFill>
              </a:rPr>
              <a:t>與否</a:t>
            </a:r>
          </a:p>
        </p:txBody>
      </p:sp>
      <p:cxnSp>
        <p:nvCxnSpPr>
          <p:cNvPr id="75" name="直線單箭頭接點 74">
            <a:extLst>
              <a:ext uri="{FF2B5EF4-FFF2-40B4-BE49-F238E27FC236}">
                <a16:creationId xmlns:a16="http://schemas.microsoft.com/office/drawing/2014/main" id="{8425C61E-4439-CFED-D36B-5676EA32F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46" idx="3"/>
            <a:endCxn id="74" idx="1"/>
          </p:cNvCxnSpPr>
          <p:nvPr/>
        </p:nvCxnSpPr>
        <p:spPr>
          <a:xfrm>
            <a:off x="9908059" y="3799480"/>
            <a:ext cx="24198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字方塊 102">
            <a:extLst>
              <a:ext uri="{FF2B5EF4-FFF2-40B4-BE49-F238E27FC236}">
                <a16:creationId xmlns:a16="http://schemas.microsoft.com/office/drawing/2014/main" id="{1D07F1D0-34B7-7544-E029-B636DF8254F7}"/>
              </a:ext>
            </a:extLst>
          </p:cNvPr>
          <p:cNvSpPr txBox="1"/>
          <p:nvPr/>
        </p:nvSpPr>
        <p:spPr>
          <a:xfrm>
            <a:off x="5463860" y="1455062"/>
            <a:ext cx="1184285" cy="375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457200">
              <a:lnSpc>
                <a:spcPct val="150000"/>
              </a:lnSpc>
              <a:defRPr/>
            </a:pPr>
            <a:r>
              <a:rPr lang="zh-TW" altLang="en-US" sz="1400" b="1">
                <a:solidFill>
                  <a:srgbClr val="363636"/>
                </a:solidFill>
                <a:latin typeface="微軟正黑體" panose="020B0604030504040204" pitchFamily="34" charset="-120"/>
              </a:rPr>
              <a:t>人工作業</a:t>
            </a:r>
            <a:endParaRPr lang="en-US" altLang="zh-TW" sz="1400" b="1">
              <a:solidFill>
                <a:srgbClr val="363636"/>
              </a:solidFill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72370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62BA776B-9179-1CD5-10AF-EF2E38726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3" y="2608532"/>
            <a:ext cx="5644291" cy="497024"/>
          </a:xfrm>
        </p:spPr>
        <p:txBody>
          <a:bodyPr/>
          <a:lstStyle/>
          <a:p>
            <a:r>
              <a:rPr lang="zh-TW" altLang="en-US"/>
              <a:t>四、執行細項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F8034CE-F4A3-2F70-92A8-D1F3197C0E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41713" y="3429000"/>
            <a:ext cx="5644291" cy="438053"/>
          </a:xfr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054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57B6B-B75F-C839-832F-8AED5C587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2">
            <a:extLst>
              <a:ext uri="{FF2B5EF4-FFF2-40B4-BE49-F238E27FC236}">
                <a16:creationId xmlns:a16="http://schemas.microsoft.com/office/drawing/2014/main" id="{FD49085C-431A-9FDF-4F1C-52797672D3F9}"/>
              </a:ext>
            </a:extLst>
          </p:cNvPr>
          <p:cNvSpPr txBox="1">
            <a:spLocks/>
          </p:cNvSpPr>
          <p:nvPr/>
        </p:nvSpPr>
        <p:spPr>
          <a:xfrm>
            <a:off x="391887" y="302192"/>
            <a:ext cx="10345782" cy="6614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>
                <a:solidFill>
                  <a:srgbClr val="008FC7"/>
                </a:solidFill>
                <a:latin typeface="微軟正黑體"/>
                <a:ea typeface="微軟正黑體"/>
              </a:rPr>
              <a:t>四、執行細項 </a:t>
            </a:r>
            <a:r>
              <a:rPr lang="en-US" altLang="zh-TW" sz="3200" baseline="30000">
                <a:solidFill>
                  <a:srgbClr val="008FC7"/>
                </a:solidFill>
                <a:latin typeface="微軟正黑體"/>
                <a:ea typeface="微軟正黑體"/>
              </a:rPr>
              <a:t>Content Safety - Fairness and Bias  </a:t>
            </a:r>
            <a:endParaRPr lang="zh-TW" altLang="en-US" sz="3200" baseline="30000">
              <a:solidFill>
                <a:srgbClr val="008FC7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D44A01D-381B-F4EF-E9EA-97391095746C}"/>
              </a:ext>
            </a:extLst>
          </p:cNvPr>
          <p:cNvSpPr txBox="1"/>
          <p:nvPr/>
        </p:nvSpPr>
        <p:spPr>
          <a:xfrm>
            <a:off x="391885" y="1200117"/>
            <a:ext cx="10345782" cy="143770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 algn="just" defTabSz="457200">
              <a:lnSpc>
                <a:spcPct val="150000"/>
              </a:lnSpc>
              <a:defRPr/>
            </a:pPr>
            <a:r>
              <a:rPr lang="zh-TW" altLang="en-US" b="1">
                <a:solidFill>
                  <a:srgbClr val="008FC7"/>
                </a:solidFill>
                <a:latin typeface="微軟正黑體"/>
                <a:ea typeface="微軟正黑體"/>
              </a:rPr>
              <a:t>??????</a:t>
            </a:r>
            <a:endParaRPr lang="en-US" altLang="zh-TW" b="1">
              <a:solidFill>
                <a:srgbClr val="008FC7"/>
              </a:solidFill>
              <a:latin typeface="微軟正黑體"/>
              <a:ea typeface="微軟正黑體"/>
            </a:endParaRPr>
          </a:p>
          <a:p>
            <a:pPr marL="285750" indent="-285750" algn="just" defTabSz="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Lorem ipsum dolor sit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amet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,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consectetuer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adipiscing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elit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. Aenean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commodo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ligula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eget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dolor. Aenean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massa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. Cum sociis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natoque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penatibus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et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magnis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dis parturient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montes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,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nascetur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ridiculus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mus. Donec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quam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felis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,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ultricies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nec,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pellentesque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eu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,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pretium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quis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, sem. </a:t>
            </a:r>
            <a:r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微軟正黑體"/>
                <a:ea typeface="微軟正黑體"/>
              </a:rPr>
              <a:t>  </a:t>
            </a:r>
            <a:endParaRPr lang="en-US" altLang="zh-TW" sz="1400">
              <a:solidFill>
                <a:srgbClr val="363636"/>
              </a:solidFill>
              <a:latin typeface="微軟正黑體"/>
              <a:ea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798623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57B6B-B75F-C839-832F-8AED5C587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2">
            <a:extLst>
              <a:ext uri="{FF2B5EF4-FFF2-40B4-BE49-F238E27FC236}">
                <a16:creationId xmlns:a16="http://schemas.microsoft.com/office/drawing/2014/main" id="{FD49085C-431A-9FDF-4F1C-52797672D3F9}"/>
              </a:ext>
            </a:extLst>
          </p:cNvPr>
          <p:cNvSpPr txBox="1">
            <a:spLocks/>
          </p:cNvSpPr>
          <p:nvPr/>
        </p:nvSpPr>
        <p:spPr>
          <a:xfrm>
            <a:off x="391887" y="302192"/>
            <a:ext cx="10345782" cy="6614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dirty="0">
                <a:solidFill>
                  <a:srgbClr val="008FC7"/>
                </a:solidFill>
                <a:latin typeface="微軟正黑體"/>
                <a:ea typeface="微軟正黑體"/>
              </a:rPr>
              <a:t>四、執行細項 </a:t>
            </a:r>
            <a:r>
              <a:rPr lang="en-US" altLang="zh-TW" sz="3200" baseline="30000" dirty="0">
                <a:solidFill>
                  <a:srgbClr val="008FC7"/>
                </a:solidFill>
                <a:latin typeface="微軟正黑體"/>
                <a:ea typeface="微軟正黑體"/>
              </a:rPr>
              <a:t>Content Safety - Toxicity  </a:t>
            </a:r>
            <a:endParaRPr lang="zh-TW" altLang="en-US" sz="3200" baseline="30000" dirty="0">
              <a:solidFill>
                <a:srgbClr val="008FC7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D44A01D-381B-F4EF-E9EA-97391095746C}"/>
              </a:ext>
            </a:extLst>
          </p:cNvPr>
          <p:cNvSpPr txBox="1"/>
          <p:nvPr/>
        </p:nvSpPr>
        <p:spPr>
          <a:xfrm>
            <a:off x="391885" y="1200117"/>
            <a:ext cx="10345782" cy="143770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 algn="just" defTabSz="457200">
              <a:lnSpc>
                <a:spcPct val="150000"/>
              </a:lnSpc>
              <a:defRPr/>
            </a:pPr>
            <a:r>
              <a:rPr lang="zh-TW" altLang="en-US" b="1">
                <a:solidFill>
                  <a:srgbClr val="008FC7"/>
                </a:solidFill>
                <a:latin typeface="微軟正黑體"/>
                <a:ea typeface="微軟正黑體"/>
              </a:rPr>
              <a:t>??????</a:t>
            </a:r>
            <a:endParaRPr lang="en-US" altLang="zh-TW" b="1">
              <a:solidFill>
                <a:srgbClr val="008FC7"/>
              </a:solidFill>
              <a:latin typeface="微軟正黑體"/>
              <a:ea typeface="微軟正黑體"/>
            </a:endParaRPr>
          </a:p>
          <a:p>
            <a:pPr marL="285750" indent="-285750" algn="just" defTabSz="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Lorem ipsum dolor sit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amet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,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consectetuer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adipiscing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elit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. Aenean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commodo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ligula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eget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dolor. Aenean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massa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. Cum sociis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natoque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penatibus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et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magnis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dis parturient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montes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,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nascetur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ridiculus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mus. Donec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quam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felis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,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ultricies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nec,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pellentesque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eu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,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pretium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quis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, sem. </a:t>
            </a:r>
            <a:r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微軟正黑體"/>
                <a:ea typeface="微軟正黑體"/>
              </a:rPr>
              <a:t>  </a:t>
            </a:r>
            <a:endParaRPr lang="en-US" altLang="zh-TW" sz="1400">
              <a:solidFill>
                <a:srgbClr val="363636"/>
              </a:solidFill>
              <a:latin typeface="微軟正黑體"/>
              <a:ea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512085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57B6B-B75F-C839-832F-8AED5C587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2">
            <a:extLst>
              <a:ext uri="{FF2B5EF4-FFF2-40B4-BE49-F238E27FC236}">
                <a16:creationId xmlns:a16="http://schemas.microsoft.com/office/drawing/2014/main" id="{FD49085C-431A-9FDF-4F1C-52797672D3F9}"/>
              </a:ext>
            </a:extLst>
          </p:cNvPr>
          <p:cNvSpPr txBox="1">
            <a:spLocks/>
          </p:cNvSpPr>
          <p:nvPr/>
        </p:nvSpPr>
        <p:spPr>
          <a:xfrm>
            <a:off x="391887" y="302192"/>
            <a:ext cx="10345782" cy="6614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dirty="0">
                <a:solidFill>
                  <a:srgbClr val="008FC7"/>
                </a:solidFill>
                <a:latin typeface="微軟正黑體"/>
                <a:ea typeface="微軟正黑體"/>
              </a:rPr>
              <a:t>四、執行細項 </a:t>
            </a:r>
            <a:r>
              <a:rPr lang="en-US" altLang="zh-TW" sz="3200" baseline="30000" dirty="0">
                <a:solidFill>
                  <a:srgbClr val="008FC7"/>
                </a:solidFill>
                <a:latin typeface="微軟正黑體"/>
                <a:ea typeface="微軟正黑體"/>
              </a:rPr>
              <a:t>Prompt Injection - Indirect Prompt Injections</a:t>
            </a:r>
            <a:endParaRPr lang="zh-TW" altLang="en-US" sz="3200" baseline="30000" dirty="0">
              <a:solidFill>
                <a:srgbClr val="008FC7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D44A01D-381B-F4EF-E9EA-97391095746C}"/>
              </a:ext>
            </a:extLst>
          </p:cNvPr>
          <p:cNvSpPr txBox="1"/>
          <p:nvPr/>
        </p:nvSpPr>
        <p:spPr>
          <a:xfrm>
            <a:off x="391885" y="1200117"/>
            <a:ext cx="10345782" cy="143770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 algn="just" defTabSz="457200">
              <a:lnSpc>
                <a:spcPct val="150000"/>
              </a:lnSpc>
              <a:defRPr/>
            </a:pPr>
            <a:r>
              <a:rPr lang="zh-TW" altLang="en-US" b="1">
                <a:solidFill>
                  <a:srgbClr val="008FC7"/>
                </a:solidFill>
                <a:latin typeface="微軟正黑體"/>
                <a:ea typeface="微軟正黑體"/>
              </a:rPr>
              <a:t>??????</a:t>
            </a:r>
            <a:endParaRPr lang="en-US" altLang="zh-TW" b="1">
              <a:solidFill>
                <a:srgbClr val="008FC7"/>
              </a:solidFill>
              <a:latin typeface="微軟正黑體"/>
              <a:ea typeface="微軟正黑體"/>
            </a:endParaRPr>
          </a:p>
          <a:p>
            <a:pPr marL="285750" indent="-285750" algn="just" defTabSz="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Lorem ipsum dolor sit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amet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,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consectetuer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adipiscing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elit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. Aenean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commodo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ligula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eget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dolor. Aenean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massa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. Cum sociis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natoque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penatibus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et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magnis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dis parturient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montes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,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nascetur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ridiculus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mus. Donec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quam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felis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,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ultricies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nec,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pellentesque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eu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,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pretium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quis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, sem. </a:t>
            </a:r>
            <a:r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微軟正黑體"/>
                <a:ea typeface="微軟正黑體"/>
              </a:rPr>
              <a:t>  </a:t>
            </a:r>
            <a:endParaRPr lang="en-US" altLang="zh-TW" sz="1400">
              <a:solidFill>
                <a:srgbClr val="363636"/>
              </a:solidFill>
              <a:latin typeface="微軟正黑體"/>
              <a:ea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682535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57B6B-B75F-C839-832F-8AED5C587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2">
            <a:extLst>
              <a:ext uri="{FF2B5EF4-FFF2-40B4-BE49-F238E27FC236}">
                <a16:creationId xmlns:a16="http://schemas.microsoft.com/office/drawing/2014/main" id="{FD49085C-431A-9FDF-4F1C-52797672D3F9}"/>
              </a:ext>
            </a:extLst>
          </p:cNvPr>
          <p:cNvSpPr txBox="1">
            <a:spLocks/>
          </p:cNvSpPr>
          <p:nvPr/>
        </p:nvSpPr>
        <p:spPr>
          <a:xfrm>
            <a:off x="391887" y="302192"/>
            <a:ext cx="10345782" cy="6614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dirty="0">
                <a:solidFill>
                  <a:srgbClr val="008FC7"/>
                </a:solidFill>
                <a:latin typeface="微軟正黑體"/>
                <a:ea typeface="微軟正黑體"/>
              </a:rPr>
              <a:t>四、執行細項 </a:t>
            </a:r>
            <a:r>
              <a:rPr lang="en-US" altLang="zh-TW" sz="3200" baseline="30000" dirty="0">
                <a:solidFill>
                  <a:srgbClr val="008FC7"/>
                </a:solidFill>
                <a:latin typeface="微軟正黑體"/>
                <a:ea typeface="微軟正黑體"/>
              </a:rPr>
              <a:t>Prompt Injection - Indirect Prompt Injections</a:t>
            </a:r>
            <a:endParaRPr lang="zh-TW" altLang="en-US" sz="3200" baseline="30000" dirty="0">
              <a:solidFill>
                <a:srgbClr val="008FC7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D44A01D-381B-F4EF-E9EA-97391095746C}"/>
              </a:ext>
            </a:extLst>
          </p:cNvPr>
          <p:cNvSpPr txBox="1"/>
          <p:nvPr/>
        </p:nvSpPr>
        <p:spPr>
          <a:xfrm>
            <a:off x="391885" y="1200117"/>
            <a:ext cx="10345782" cy="143770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 algn="just" defTabSz="457200">
              <a:lnSpc>
                <a:spcPct val="150000"/>
              </a:lnSpc>
              <a:defRPr/>
            </a:pPr>
            <a:r>
              <a:rPr lang="zh-TW" altLang="en-US" b="1">
                <a:solidFill>
                  <a:srgbClr val="008FC7"/>
                </a:solidFill>
                <a:latin typeface="微軟正黑體"/>
                <a:ea typeface="微軟正黑體"/>
              </a:rPr>
              <a:t>??????</a:t>
            </a:r>
            <a:endParaRPr lang="en-US" altLang="zh-TW" b="1">
              <a:solidFill>
                <a:srgbClr val="008FC7"/>
              </a:solidFill>
              <a:latin typeface="微軟正黑體"/>
              <a:ea typeface="微軟正黑體"/>
            </a:endParaRPr>
          </a:p>
          <a:p>
            <a:pPr marL="285750" indent="-285750" algn="just" defTabSz="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Lorem ipsum dolor sit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amet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,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consectetuer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adipiscing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elit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. Aenean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commodo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ligula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eget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dolor. Aenean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massa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. Cum sociis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natoque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penatibus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et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magnis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dis parturient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montes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,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nascetur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ridiculus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mus. Donec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quam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felis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,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ultricies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nec,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pellentesque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eu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,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pretium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quis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, sem. </a:t>
            </a:r>
            <a:r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微軟正黑體"/>
                <a:ea typeface="微軟正黑體"/>
              </a:rPr>
              <a:t>  </a:t>
            </a:r>
            <a:endParaRPr lang="en-US" altLang="zh-TW" sz="1400">
              <a:solidFill>
                <a:srgbClr val="363636"/>
              </a:solidFill>
              <a:latin typeface="微軟正黑體"/>
              <a:ea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149351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57B6B-B75F-C839-832F-8AED5C587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2">
            <a:extLst>
              <a:ext uri="{FF2B5EF4-FFF2-40B4-BE49-F238E27FC236}">
                <a16:creationId xmlns:a16="http://schemas.microsoft.com/office/drawing/2014/main" id="{FD49085C-431A-9FDF-4F1C-52797672D3F9}"/>
              </a:ext>
            </a:extLst>
          </p:cNvPr>
          <p:cNvSpPr txBox="1">
            <a:spLocks/>
          </p:cNvSpPr>
          <p:nvPr/>
        </p:nvSpPr>
        <p:spPr>
          <a:xfrm>
            <a:off x="391887" y="302192"/>
            <a:ext cx="10345782" cy="6614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 dirty="0">
                <a:solidFill>
                  <a:srgbClr val="008FC7"/>
                </a:solidFill>
                <a:latin typeface="微軟正黑體"/>
                <a:ea typeface="微軟正黑體"/>
              </a:rPr>
              <a:t>四、執行細項 </a:t>
            </a:r>
            <a:r>
              <a:rPr lang="en-US" altLang="zh-TW" sz="3200" baseline="30000" dirty="0">
                <a:solidFill>
                  <a:srgbClr val="008FC7"/>
                </a:solidFill>
                <a:latin typeface="微軟正黑體"/>
                <a:ea typeface="微軟正黑體"/>
              </a:rPr>
              <a:t>Prompt Injection - Indirect Prompt Injections</a:t>
            </a:r>
            <a:endParaRPr lang="zh-TW" altLang="en-US" sz="3200" baseline="30000" dirty="0">
              <a:solidFill>
                <a:srgbClr val="008FC7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D44A01D-381B-F4EF-E9EA-97391095746C}"/>
              </a:ext>
            </a:extLst>
          </p:cNvPr>
          <p:cNvSpPr txBox="1"/>
          <p:nvPr/>
        </p:nvSpPr>
        <p:spPr>
          <a:xfrm>
            <a:off x="391885" y="1200117"/>
            <a:ext cx="10345782" cy="143770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 algn="just" defTabSz="457200">
              <a:lnSpc>
                <a:spcPct val="150000"/>
              </a:lnSpc>
              <a:defRPr/>
            </a:pPr>
            <a:r>
              <a:rPr lang="zh-TW" altLang="en-US" b="1">
                <a:solidFill>
                  <a:srgbClr val="008FC7"/>
                </a:solidFill>
                <a:latin typeface="微軟正黑體"/>
                <a:ea typeface="微軟正黑體"/>
              </a:rPr>
              <a:t>??????</a:t>
            </a:r>
            <a:endParaRPr lang="en-US" altLang="zh-TW" b="1">
              <a:solidFill>
                <a:srgbClr val="008FC7"/>
              </a:solidFill>
              <a:latin typeface="微軟正黑體"/>
              <a:ea typeface="微軟正黑體"/>
            </a:endParaRPr>
          </a:p>
          <a:p>
            <a:pPr marL="285750" indent="-285750" algn="just" defTabSz="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Lorem ipsum dolor sit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amet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,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consectetuer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adipiscing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elit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. Aenean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commodo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ligula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eget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dolor. Aenean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massa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. Cum sociis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natoque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penatibus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et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magnis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dis parturient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montes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,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nascetur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ridiculus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mus. Donec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quam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felis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,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ultricies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nec,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pellentesque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eu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,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pretium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quis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, sem. </a:t>
            </a:r>
            <a:r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微軟正黑體"/>
                <a:ea typeface="微軟正黑體"/>
              </a:rPr>
              <a:t>  </a:t>
            </a:r>
            <a:endParaRPr lang="en-US" altLang="zh-TW" sz="1400">
              <a:solidFill>
                <a:srgbClr val="363636"/>
              </a:solidFill>
              <a:latin typeface="微軟正黑體"/>
              <a:ea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786661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57B6B-B75F-C839-832F-8AED5C587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2">
            <a:extLst>
              <a:ext uri="{FF2B5EF4-FFF2-40B4-BE49-F238E27FC236}">
                <a16:creationId xmlns:a16="http://schemas.microsoft.com/office/drawing/2014/main" id="{FD49085C-431A-9FDF-4F1C-52797672D3F9}"/>
              </a:ext>
            </a:extLst>
          </p:cNvPr>
          <p:cNvSpPr txBox="1">
            <a:spLocks/>
          </p:cNvSpPr>
          <p:nvPr/>
        </p:nvSpPr>
        <p:spPr>
          <a:xfrm>
            <a:off x="391887" y="302192"/>
            <a:ext cx="10345782" cy="6614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>
                <a:solidFill>
                  <a:srgbClr val="008FC7"/>
                </a:solidFill>
                <a:latin typeface="微軟正黑體"/>
                <a:ea typeface="微軟正黑體"/>
              </a:rPr>
              <a:t>四、執行細項 </a:t>
            </a:r>
            <a:r>
              <a:rPr lang="en-US" altLang="zh-TW" sz="3200" baseline="30000">
                <a:solidFill>
                  <a:srgbClr val="008FC7"/>
                </a:solidFill>
                <a:latin typeface="微軟正黑體"/>
                <a:ea typeface="微軟正黑體"/>
              </a:rPr>
              <a:t>Insecure Model Output</a:t>
            </a:r>
            <a:endParaRPr lang="zh-TW" altLang="en-US" sz="3200" baseline="30000">
              <a:solidFill>
                <a:srgbClr val="008FC7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D44A01D-381B-F4EF-E9EA-97391095746C}"/>
              </a:ext>
            </a:extLst>
          </p:cNvPr>
          <p:cNvSpPr txBox="1"/>
          <p:nvPr/>
        </p:nvSpPr>
        <p:spPr>
          <a:xfrm>
            <a:off x="391885" y="1200117"/>
            <a:ext cx="10345782" cy="143770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 algn="just" defTabSz="457200">
              <a:lnSpc>
                <a:spcPct val="150000"/>
              </a:lnSpc>
              <a:defRPr/>
            </a:pPr>
            <a:r>
              <a:rPr lang="zh-TW" altLang="en-US" b="1">
                <a:solidFill>
                  <a:srgbClr val="008FC7"/>
                </a:solidFill>
                <a:latin typeface="微軟正黑體"/>
                <a:ea typeface="微軟正黑體"/>
              </a:rPr>
              <a:t>??????</a:t>
            </a:r>
            <a:endParaRPr lang="en-US" altLang="zh-TW" b="1">
              <a:solidFill>
                <a:srgbClr val="008FC7"/>
              </a:solidFill>
              <a:latin typeface="微軟正黑體"/>
              <a:ea typeface="微軟正黑體"/>
            </a:endParaRPr>
          </a:p>
          <a:p>
            <a:pPr marL="285750" indent="-285750" algn="just" defTabSz="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Lorem ipsum dolor sit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amet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,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consectetuer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adipiscing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elit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. Aenean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commodo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ligula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eget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dolor. Aenean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massa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. Cum sociis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natoque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penatibus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et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magnis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dis parturient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montes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,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nascetur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ridiculus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mus. Donec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quam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felis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,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ultricies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nec,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pellentesque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eu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,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pretium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 </a:t>
            </a:r>
            <a:r>
              <a:rPr lang="en-US" altLang="zh-TW" sz="1400" err="1">
                <a:solidFill>
                  <a:srgbClr val="363636"/>
                </a:solidFill>
                <a:latin typeface="微軟正黑體"/>
                <a:ea typeface="微軟正黑體"/>
              </a:rPr>
              <a:t>quis</a:t>
            </a:r>
            <a:r>
              <a:rPr lang="en-US" altLang="zh-TW" sz="1400">
                <a:solidFill>
                  <a:srgbClr val="363636"/>
                </a:solidFill>
                <a:latin typeface="微軟正黑體"/>
                <a:ea typeface="微軟正黑體"/>
              </a:rPr>
              <a:t>, sem. </a:t>
            </a:r>
            <a:r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363636"/>
                </a:solidFill>
                <a:effectLst/>
                <a:uLnTx/>
                <a:uFillTx/>
                <a:latin typeface="微軟正黑體"/>
                <a:ea typeface="微軟正黑體"/>
              </a:rPr>
              <a:t>  </a:t>
            </a:r>
            <a:endParaRPr lang="en-US" altLang="zh-TW" sz="1400">
              <a:solidFill>
                <a:srgbClr val="363636"/>
              </a:solidFill>
              <a:latin typeface="微軟正黑體"/>
              <a:ea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780384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62BA776B-9179-1CD5-10AF-EF2E38726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3" y="2608532"/>
            <a:ext cx="5644291" cy="497024"/>
          </a:xfrm>
        </p:spPr>
        <p:txBody>
          <a:bodyPr/>
          <a:lstStyle/>
          <a:p>
            <a:r>
              <a:rPr lang="zh-TW" altLang="en-US"/>
              <a:t>五、實際評測案例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F8034CE-F4A3-2F70-92A8-D1F3197C0E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41713" y="3314392"/>
            <a:ext cx="5644292" cy="438053"/>
          </a:xfr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19289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62BA776B-9179-1CD5-10AF-EF2E38726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3" y="2608532"/>
            <a:ext cx="5644291" cy="497024"/>
          </a:xfrm>
        </p:spPr>
        <p:txBody>
          <a:bodyPr/>
          <a:lstStyle/>
          <a:p>
            <a:r>
              <a:rPr lang="zh-TW" altLang="en-US"/>
              <a:t>附錄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F8034CE-F4A3-2F70-92A8-D1F3197C0E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41713" y="3429000"/>
            <a:ext cx="5644292" cy="438053"/>
          </a:xfr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52580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">
            <a:extLst>
              <a:ext uri="{FF2B5EF4-FFF2-40B4-BE49-F238E27FC236}">
                <a16:creationId xmlns:a16="http://schemas.microsoft.com/office/drawing/2014/main" id="{E272DF3D-4DD7-7DE3-529A-EF27F9FC4611}"/>
              </a:ext>
            </a:extLst>
          </p:cNvPr>
          <p:cNvSpPr txBox="1">
            <a:spLocks/>
          </p:cNvSpPr>
          <p:nvPr/>
        </p:nvSpPr>
        <p:spPr>
          <a:xfrm>
            <a:off x="391887" y="302192"/>
            <a:ext cx="10345782" cy="6614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sz="3200">
                <a:solidFill>
                  <a:srgbClr val="008FC7"/>
                </a:solidFill>
              </a:rPr>
              <a:t>附錄 </a:t>
            </a:r>
            <a:r>
              <a:rPr lang="zh-TW" altLang="en-US" sz="3200" baseline="30000">
                <a:solidFill>
                  <a:srgbClr val="008FC7"/>
                </a:solidFill>
              </a:rPr>
              <a:t>參考資料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D00CD6A1-2BA6-1424-7232-2A8590F9DF5F}"/>
              </a:ext>
            </a:extLst>
          </p:cNvPr>
          <p:cNvSpPr txBox="1"/>
          <p:nvPr/>
        </p:nvSpPr>
        <p:spPr>
          <a:xfrm>
            <a:off x="391885" y="1200117"/>
            <a:ext cx="10345782" cy="3607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lang="zh-TW" altLang="en-US" sz="1400" b="1" dirty="0">
                <a:solidFill>
                  <a:srgbClr val="36363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主要參考資料</a:t>
            </a:r>
            <a:endParaRPr lang="en-US" altLang="zh-TW" sz="1400" b="1" dirty="0">
              <a:solidFill>
                <a:srgbClr val="363636"/>
              </a:solidFill>
              <a:latin typeface="微軟正黑體" panose="020B0604030504040204" pitchFamily="34" charset="-120"/>
              <a:ea typeface="微軟正黑體" panose="020B0604030504040204" pitchFamily="34" charset="-120"/>
              <a:hlinkClick r:id="rId3"/>
            </a:endParaRPr>
          </a:p>
          <a:p>
            <a:pPr marL="742950" lvl="1" indent="-285750" algn="just" defTabSz="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– Secure AI Framework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 algn="just" defTabSz="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- Gemma 2 Model Card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742950" lvl="1" indent="-285750" algn="just" defTabSz="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Microsoft Azure AI Foundry - and safety evaluators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 algn="just" defTabSz="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 - GPT-OSS-120B &amp; GPT-OSS-20B Model Card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 algn="just" defTabSz="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OWASP Top 10 for LLM Applications 2025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 algn="just" defTabSz="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9"/>
              </a:rPr>
              <a:t>NIST - AI Risk Management Framework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lang="en-US" altLang="zh-TW" sz="1400" b="1" dirty="0">
                <a:solidFill>
                  <a:srgbClr val="36363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Injection Prompt Injections</a:t>
            </a:r>
            <a:endParaRPr lang="en-US" altLang="zh-TW" sz="1400" b="1" dirty="0">
              <a:solidFill>
                <a:srgbClr val="363636"/>
              </a:solidFill>
              <a:latin typeface="微軟正黑體" panose="020B0604030504040204" pitchFamily="34" charset="-120"/>
              <a:ea typeface="微軟正黑體" panose="020B0604030504040204" pitchFamily="34" charset="-120"/>
              <a:hlinkClick r:id="rId3"/>
            </a:endParaRPr>
          </a:p>
          <a:p>
            <a:pPr marL="742950" lvl="1" indent="-285750" algn="just" defTabSz="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– Secure AI Framework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 algn="just" defTabSz="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- Gemma 2 Model Card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742950" lvl="1" indent="-285750" algn="just" defTabSz="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1539032707"/>
      </p:ext>
    </p:extLst>
  </p:cSld>
  <p:clrMapOvr>
    <a:masterClrMapping/>
  </p:clrMapOvr>
</p:sld>
</file>

<file path=ppt/theme/theme1.xml><?xml version="1.0" encoding="utf-8"?>
<a:theme xmlns:a="http://schemas.openxmlformats.org/drawingml/2006/main" name="富邦A-25大樓-封面">
  <a:themeElements>
    <a:clrScheme name="FB2">
      <a:dk1>
        <a:srgbClr val="363636"/>
      </a:dk1>
      <a:lt1>
        <a:srgbClr val="FFFFFF"/>
      </a:lt1>
      <a:dk2>
        <a:srgbClr val="A2A2A2"/>
      </a:dk2>
      <a:lt2>
        <a:srgbClr val="EEECE1"/>
      </a:lt2>
      <a:accent1>
        <a:srgbClr val="0093C1"/>
      </a:accent1>
      <a:accent2>
        <a:srgbClr val="30DAA2"/>
      </a:accent2>
      <a:accent3>
        <a:srgbClr val="00A59B"/>
      </a:accent3>
      <a:accent4>
        <a:srgbClr val="00D4F0"/>
      </a:accent4>
      <a:accent5>
        <a:srgbClr val="014865"/>
      </a:accent5>
      <a:accent6>
        <a:srgbClr val="FFC94F"/>
      </a:accent6>
      <a:hlink>
        <a:srgbClr val="0070C0"/>
      </a:hlink>
      <a:folHlink>
        <a:srgbClr val="7030A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855</Words>
  <Application>Microsoft Office PowerPoint</Application>
  <PresentationFormat>寬螢幕</PresentationFormat>
  <Paragraphs>79</Paragraphs>
  <Slides>15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0" baseType="lpstr">
      <vt:lpstr>微軟正黑體</vt:lpstr>
      <vt:lpstr>Arial</vt:lpstr>
      <vt:lpstr>Calibri</vt:lpstr>
      <vt:lpstr>Wingdings</vt:lpstr>
      <vt:lpstr>富邦A-25大樓-封面</vt:lpstr>
      <vt:lpstr>PowerPoint 簡報</vt:lpstr>
      <vt:lpstr>一、評測規劃</vt:lpstr>
      <vt:lpstr>PowerPoint 簡報</vt:lpstr>
      <vt:lpstr>PowerPoint 簡報</vt:lpstr>
      <vt:lpstr>一、評測規劃 評測流程</vt:lpstr>
      <vt:lpstr>四、執行細項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五、實際評測案例</vt:lpstr>
      <vt:lpstr>附錄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黃昕</dc:creator>
  <cp:lastModifiedBy>黃昕</cp:lastModifiedBy>
  <cp:revision>1</cp:revision>
  <dcterms:created xsi:type="dcterms:W3CDTF">2025-10-17T07:20:53Z</dcterms:created>
  <dcterms:modified xsi:type="dcterms:W3CDTF">2025-11-07T08:15:36Z</dcterms:modified>
</cp:coreProperties>
</file>